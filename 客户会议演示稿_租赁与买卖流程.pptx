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d3c343afc948b2" /><Relationship Type="http://schemas.openxmlformats.org/officeDocument/2006/relationships/extended-properties" Target="/docProps/app.xml" Id="Rb0b09e58d9804e86" /><Relationship Type="http://schemas.openxmlformats.org/officeDocument/2006/relationships/officeDocument" Target="/ppt/presentation.xml" Id="R0a402fd7e14843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bb13656b564ee4"/>
  </p:sldMasterIdLst>
  <p:notesMasterIdLst>
    <p:notesMasterId xmlns:r="http://schemas.openxmlformats.org/officeDocument/2006/relationships" r:id="R8a2e986bf7f24001"/>
  </p:notesMasterIdLst>
  <p:sldIdLst>
    <p:sldId xmlns:r="http://schemas.openxmlformats.org/officeDocument/2006/relationships" id="256" r:id="R02b76a12afbe42e1"/>
    <p:sldId xmlns:r="http://schemas.openxmlformats.org/officeDocument/2006/relationships" id="257" r:id="R37b89e1b67c04224"/>
    <p:sldId xmlns:r="http://schemas.openxmlformats.org/officeDocument/2006/relationships" id="258" r:id="R3aa22547412a4649"/>
    <p:sldId xmlns:r="http://schemas.openxmlformats.org/officeDocument/2006/relationships" id="259" r:id="Rf745cc59c175402a"/>
    <p:sldId xmlns:r="http://schemas.openxmlformats.org/officeDocument/2006/relationships" id="260" r:id="R068b3ee5a9a847e3"/>
    <p:sldId xmlns:r="http://schemas.openxmlformats.org/officeDocument/2006/relationships" id="261" r:id="R8e07528581784686"/>
    <p:sldId xmlns:r="http://schemas.openxmlformats.org/officeDocument/2006/relationships" id="262" r:id="Rf3ef229c6c3b48bc"/>
    <p:sldId xmlns:r="http://schemas.openxmlformats.org/officeDocument/2006/relationships" id="263" r:id="R8b6d59c546c04517"/>
    <p:sldId xmlns:r="http://schemas.openxmlformats.org/officeDocument/2006/relationships" id="264" r:id="Rfc00513497f34ccf"/>
    <p:sldId xmlns:r="http://schemas.openxmlformats.org/officeDocument/2006/relationships" id="265" r:id="R270d23d04878432b"/>
    <p:sldId xmlns:r="http://schemas.openxmlformats.org/officeDocument/2006/relationships" id="266" r:id="R5212773ccf2a48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8137c44af84f6c" /><Relationship Type="http://schemas.openxmlformats.org/officeDocument/2006/relationships/slideMaster" Target="/ppt/slideMasters/slideMaster1.xml" Id="Rf4bb13656b564ee4" /><Relationship Type="http://schemas.openxmlformats.org/officeDocument/2006/relationships/notesMaster" Target="/ppt/notesMasters/notesMaster1.xml" Id="R8a2e986bf7f24001" /><Relationship Type="http://schemas.openxmlformats.org/officeDocument/2006/relationships/presProps" Target="/ppt/presProps.xml" Id="Ref618eabf66c49bf" /><Relationship Type="http://schemas.openxmlformats.org/officeDocument/2006/relationships/tableStyles" Target="/ppt/tableStyles.xml" Id="R1e561c3a642b4920" /><Relationship Type="http://schemas.openxmlformats.org/officeDocument/2006/relationships/slide" Target="/ppt/slides/slide1.xml" Id="R02b76a12afbe42e1" /><Relationship Type="http://schemas.openxmlformats.org/officeDocument/2006/relationships/slide" Target="/ppt/slides/slide2.xml" Id="R37b89e1b67c04224" /><Relationship Type="http://schemas.openxmlformats.org/officeDocument/2006/relationships/slide" Target="/ppt/slides/slide3.xml" Id="R3aa22547412a4649" /><Relationship Type="http://schemas.openxmlformats.org/officeDocument/2006/relationships/slide" Target="/ppt/slides/slide4.xml" Id="Rf745cc59c175402a" /><Relationship Type="http://schemas.openxmlformats.org/officeDocument/2006/relationships/slide" Target="/ppt/slides/slide5.xml" Id="R068b3ee5a9a847e3" /><Relationship Type="http://schemas.openxmlformats.org/officeDocument/2006/relationships/slide" Target="/ppt/slides/slide6.xml" Id="R8e07528581784686" /><Relationship Type="http://schemas.openxmlformats.org/officeDocument/2006/relationships/slide" Target="/ppt/slides/slide7.xml" Id="Rf3ef229c6c3b48bc" /><Relationship Type="http://schemas.openxmlformats.org/officeDocument/2006/relationships/slide" Target="/ppt/slides/slide8.xml" Id="R8b6d59c546c04517" /><Relationship Type="http://schemas.openxmlformats.org/officeDocument/2006/relationships/slide" Target="/ppt/slides/slide9.xml" Id="Rfc00513497f34ccf" /><Relationship Type="http://schemas.openxmlformats.org/officeDocument/2006/relationships/slide" Target="/ppt/slides/slide10.xml" Id="R270d23d04878432b" /><Relationship Type="http://schemas.openxmlformats.org/officeDocument/2006/relationships/slide" Target="/ppt/slides/slide11.xml" Id="R5212773ccf2a48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744c5d076a4e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65366ace574534" /><Relationship Type="http://schemas.openxmlformats.org/officeDocument/2006/relationships/notesMaster" Target="/ppt/notesMasters/notesMaster1.xml" Id="Re3e4a4bb14874a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8acd005f7245d0" /><Relationship Type="http://schemas.openxmlformats.org/officeDocument/2006/relationships/notesMaster" Target="/ppt/notesMasters/notesMaster1.xml" Id="R72098088441148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983d9b9b254404" /><Relationship Type="http://schemas.openxmlformats.org/officeDocument/2006/relationships/notesMaster" Target="/ppt/notesMasters/notesMaster1.xml" Id="Raa8ee7ced5f845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b3a24783d042aa" /><Relationship Type="http://schemas.openxmlformats.org/officeDocument/2006/relationships/notesMaster" Target="/ppt/notesMasters/notesMaster1.xml" Id="R35472158a10042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88e76295d34b95" /><Relationship Type="http://schemas.openxmlformats.org/officeDocument/2006/relationships/notesMaster" Target="/ppt/notesMasters/notesMaster1.xml" Id="Rf8a0ccd2eec946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b78d8685974023" /><Relationship Type="http://schemas.openxmlformats.org/officeDocument/2006/relationships/notesMaster" Target="/ppt/notesMasters/notesMaster1.xml" Id="R0b690a21f7af4c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50d2c57e044dcb" /><Relationship Type="http://schemas.openxmlformats.org/officeDocument/2006/relationships/notesMaster" Target="/ppt/notesMasters/notesMaster1.xml" Id="Rd3ba1f75e0b44f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45f0320295485c" /><Relationship Type="http://schemas.openxmlformats.org/officeDocument/2006/relationships/notesMaster" Target="/ppt/notesMasters/notesMaster1.xml" Id="Re114a6694b2f4c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c76178782e4ad5" /><Relationship Type="http://schemas.openxmlformats.org/officeDocument/2006/relationships/notesMaster" Target="/ppt/notesMasters/notesMaster1.xml" Id="R680b9d3be4c847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35470525ea471a" /><Relationship Type="http://schemas.openxmlformats.org/officeDocument/2006/relationships/notesMaster" Target="/ppt/notesMasters/notesMaster1.xml" Id="R78a9a5198a424f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5d0562ae0449f9" /><Relationship Type="http://schemas.openxmlformats.org/officeDocument/2006/relationships/notesMaster" Target="/ppt/notesMasters/notesMaster1.xml" Id="R080dd9f65ace4b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033a9650a744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ea57b3ab5b4c63" /><Relationship Type="http://schemas.openxmlformats.org/officeDocument/2006/relationships/slideLayout" Target="/ppt/slideLayouts/slideLayout1.xml" Id="R8db2f856dde342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b2f856dde342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6fa305d6742d3" /><Relationship Type="http://schemas.openxmlformats.org/officeDocument/2006/relationships/notesSlide" Target="/ppt/notesSlides/notesSlide1.xml" Id="Rd69668c92e4643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a37981abe4dad" /><Relationship Type="http://schemas.openxmlformats.org/officeDocument/2006/relationships/notesSlide" Target="/ppt/notesSlides/notesSlide2.xml" Id="Rc294cbae3f944e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95b27e12d4f4b" /><Relationship Type="http://schemas.openxmlformats.org/officeDocument/2006/relationships/notesSlide" Target="/ppt/notesSlides/notesSlide3.xml" Id="R6be5ca1a77664e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8544f95db48f7" /><Relationship Type="http://schemas.openxmlformats.org/officeDocument/2006/relationships/notesSlide" Target="/ppt/notesSlides/notesSlide4.xml" Id="R9c3da49f6bd54a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8566ae79e4eb4" /><Relationship Type="http://schemas.openxmlformats.org/officeDocument/2006/relationships/notesSlide" Target="/ppt/notesSlides/notesSlide5.xml" Id="R047aec45db8044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f1a9a5df94068" /><Relationship Type="http://schemas.openxmlformats.org/officeDocument/2006/relationships/notesSlide" Target="/ppt/notesSlides/notesSlide6.xml" Id="R625ac2f38c0945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96b89602e4261" /><Relationship Type="http://schemas.openxmlformats.org/officeDocument/2006/relationships/notesSlide" Target="/ppt/notesSlides/notesSlide7.xml" Id="Raaf4d80938df4d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4fce6c07d49ba" /><Relationship Type="http://schemas.openxmlformats.org/officeDocument/2006/relationships/notesSlide" Target="/ppt/notesSlides/notesSlide8.xml" Id="Rb8b936e9ab4743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8e5404bb442c6" /><Relationship Type="http://schemas.openxmlformats.org/officeDocument/2006/relationships/notesSlide" Target="/ppt/notesSlides/notesSlide9.xml" Id="R7a083999713849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187e9f09c41df" /><Relationship Type="http://schemas.openxmlformats.org/officeDocument/2006/relationships/notesSlide" Target="/ppt/notesSlides/notesSlide10.xml" Id="R982842e1e19940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933a640594e02" /><Relationship Type="http://schemas.openxmlformats.org/officeDocument/2006/relationships/notesSlide" Target="/ppt/notesSlides/notesSlide11.xml" Id="R5289c7c21d8748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0C4E41-C40B-4A43-8A05-0181DC79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0">
            <a:solidFill>
              <a:srgbClr val="F6F9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948FCA-F205-4611-9201-595CE837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96"/>
          </a:solidFill>
          <a:ln xmlns:a="http://schemas.openxmlformats.org/drawingml/2006/main" w="0">
            <a:solidFill>
              <a:srgbClr val="0B8F9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5710E-EA7D-4F2A-BCE3-C19FFAB0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CCPS 房产交易与租赁流程演示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7B3D7-81EC-4477-8CE5-1B031C94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rPr>
              <a:t>租赁主流程｜买卖房款流程｜文件与系统自动化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C4C36-7F82-4DEA-9E20-9F659958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帮助客户快速理解：每一步谁操作、系统做什么、最后留下哪些文件。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E3E80-5703-4EEA-B9AA-D4F4382D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solidFill>
              <a:srgbClr val="CBD5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23A237-0080-4E16-A09B-D695C34A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rPr>
              <a:t>客户会议版｜下周二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B0918-6372-4707-99A6-F31A5847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rPr>
              <a:t>基于当前 CCPS 系统流程整理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A20E8A-876A-4F11-966A-616D25E0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952500"/>
            <a:ext cx="29527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8C92DE-F7E4-42A4-945B-22B4D77D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一套流程，三类产出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96D731-3150-4796-9432-ED6C8469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3"/>
          </a:solidFill>
          <a:ln xmlns:a="http://schemas.openxmlformats.org/drawingml/2006/main" w="0">
            <a:solidFill>
              <a:srgbClr val="DDF3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744571-FF33-4C1A-932A-A0664B59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24100"/>
            <a:ext cx="647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B472C1-0DC9-42D3-9CD0-B7EE8996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908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流程进入下一阶段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32FC0F-4D7B-4F38-AA6E-D9A74DCE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F"/>
          </a:solidFill>
          <a:ln xmlns:a="http://schemas.openxmlformats.org/drawingml/2006/main" w="0">
            <a:solidFill>
              <a:srgbClr val="E6F0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5BACB8-10DC-4D19-B3A2-F93C3FD0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57550"/>
            <a:ext cx="647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830422-A11E-4A35-B789-88DE24FF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242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合同、凭证、交接记录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D5C702-8E95-4784-A17E-45C21C4D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7670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0">
            <a:solidFill>
              <a:srgbClr val="FFF3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F2189D-71C1-4645-815E-10E80B8D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91000"/>
            <a:ext cx="647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A4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A441"/>
                </a:solidFill>
                <a:latin typeface="Microsoft YaHei"/>
                <a:ea typeface="Microsoft YaHei"/>
                <a:cs typeface="Microsoft YaHei"/>
              </a:rPr>
              <a:t>账单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0C14A4-0481-46D6-9D23-9CE2686F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577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应收、收款、财务留痕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6D13D7-1A37-43E6-BF84-98A926B2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773505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346D18-60AC-4783-B5E6-B7C6A724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rPr>
              <a:t>先看全局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969A3-BF73-4400-A730-B03E5C06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系统把业务流程拆成：状态、文件、账单三条线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2BD7F-A860-4090-812C-BB2270AA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会议中先讲主流程，再进入页面截图和细节规则。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0480F5-083C-4840-9A23-09010FE7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rPr>
              <a:t>租赁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EF464-B8BF-4909-A481-17634FDE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43100"/>
            <a:ext cx="895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96"/>
          </a:solidFill>
          <a:ln xmlns:a="http://schemas.openxmlformats.org/drawingml/2006/main" w="0">
            <a:solidFill>
              <a:srgbClr val="0B8F9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2CF2FB-E471-41D3-BF1D-D34B3250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145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房产准备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8D057F-08E8-40D7-B68A-5DD56D6D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145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委托授权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04C85-CDD4-405A-B2F2-95EB1945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145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租约签署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169CD2-69D9-48C9-819D-A583DABC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145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首期收款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D1E27-A863-4AF7-999A-4519170E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145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持续运营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34D277-9FA2-4DA7-AB1C-E106A414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85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96"/>
          </a:solidFill>
          <a:ln xmlns:a="http://schemas.openxmlformats.org/drawingml/2006/main" w="0">
            <a:solidFill>
              <a:srgbClr val="0B8F9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A5E915-2241-408C-B998-382CC715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85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96"/>
          </a:solidFill>
          <a:ln xmlns:a="http://schemas.openxmlformats.org/drawingml/2006/main" w="0">
            <a:solidFill>
              <a:srgbClr val="0B8F9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C8F938-5119-4F5B-ACD1-3C22E1F0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85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96"/>
          </a:solidFill>
          <a:ln xmlns:a="http://schemas.openxmlformats.org/drawingml/2006/main" w="0">
            <a:solidFill>
              <a:srgbClr val="0B8F9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70CE99-3AC2-48EC-A73C-3D6EE297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85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96"/>
          </a:solidFill>
          <a:ln xmlns:a="http://schemas.openxmlformats.org/drawingml/2006/main" w="0">
            <a:solidFill>
              <a:srgbClr val="0B8F9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6519BB-A778-4869-A983-1E23DAD0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85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96"/>
          </a:solidFill>
          <a:ln xmlns:a="http://schemas.openxmlformats.org/drawingml/2006/main" w="0">
            <a:solidFill>
              <a:srgbClr val="0B8F9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4E94CF-AB73-4AFD-B766-EC046896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买卖 / 房款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39D255-2CCB-4CED-A9EE-430F4D68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00400"/>
            <a:ext cx="819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721677-0B8A-49D4-8AB0-DBA3A6EC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43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8F8100-811B-41CB-9C04-28EEAD38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43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7CD516-3AB8-4E53-B97A-578BD931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43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1FC25D-97AA-47B7-B573-1967A3DB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12A36D-30A7-4122-BC49-F8B97A29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43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4FA385-88A6-4D17-8143-2C36FFC8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718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项目与单位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F56E17-F1C0-488E-A369-6A4FA3D4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718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购房合约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07B8AF-4DF8-4A97-9D8F-5C79B79A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3718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付款分期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1A8E30-23D9-4716-93E5-B0E05B90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718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凭证与确认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6D13A2-503C-4655-95DC-63E1F4A8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718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交房运营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755830-145F-4408-B60F-5832D944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6EAE14-8B44-4CBF-BE74-3BAFAA96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960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业务角色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35A71B-86E8-421F-8C5C-9947CA90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00600"/>
            <a:ext cx="276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业务人员｜业主/客户｜财务｜运营人员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8461E3-14A2-4358-BCB6-A6E77CBB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4815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D1A350-7AF1-4DF8-B71C-2FED6B2A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1960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系统产出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ADEE8F-4FF8-4ABD-AA97-4F716ED6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00600"/>
            <a:ext cx="276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状态变更｜合同与凭证｜应收账单｜收款记录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D52082-FC62-4405-8DF9-E2113D54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4815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E6480A-9C73-4F85-9533-B3B8B1B7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1960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客户能看到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D044B4-9B07-4671-83B4-1E3FCBBF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00600"/>
            <a:ext cx="276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操作入口清楚，文件集中，流程可追溯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248723-833B-43F9-84BF-841D302F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solidFill>
              <a:srgbClr val="CBD5D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CC1D72-6592-4532-B5F7-D56089F8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CCPS｜客户会议演示版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13FA0C-C3AF-43A9-8740-531F3AB4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33817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6B0CBCC-8E71-4B58-9D72-8E15544C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rPr>
              <a:t>租赁主流程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F6351-A886-4170-A0FC-44D1230C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一套出租业务，从房产准备走到持续运营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E4E0B-AF56-4156-9147-F7F8F7FD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每个阶段都有明确的进入条件、操作动作和文件产出。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1539D-F267-44DC-AF03-AA921258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375" y="277177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solidFill>
              <a:srgbClr val="CBD5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9397F-3C6D-4CFF-BAD8-876973F5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277177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solidFill>
              <a:srgbClr val="CBD5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044AC-DD46-46BF-BA91-883DD7D1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77177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solidFill>
              <a:srgbClr val="CBD5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03DF0C-94ED-4B5D-B661-B0018D9A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277177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solidFill>
              <a:srgbClr val="CBD5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58FE06-B748-4BBF-A7EF-B9429F44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275" y="277177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solidFill>
              <a:srgbClr val="CBD5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5245FC-A87B-429C-B75C-1D853D86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6605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3"/>
          </a:solidFill>
          <a:ln xmlns:a="http://schemas.openxmlformats.org/drawingml/2006/main" w="19050">
            <a:solidFill>
              <a:srgbClr val="0B8F9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741A5C-8350-4FEB-9931-53ABF3BF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15AF38-60A0-4AFE-A4D4-49852CCA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13938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房产准备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CB8DB4-A86D-40A5-B7D9-287C9EFE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13938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资料、交接、照片、服务费用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5AB4B4-F5FF-4D29-BCF4-45184203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7775" y="1790700"/>
            <a:ext cx="16605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A497A9-4BBB-4B69-B798-79E474F1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125" y="19240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B5465F-2609-4C2E-BF51-F2DA96F3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125" y="2286000"/>
            <a:ext cx="13938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出租委托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FA7FEA-9A2C-408F-B836-5F2E0591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125" y="2819400"/>
            <a:ext cx="13938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建立委托并生成授权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ABE8C5-9CD9-4999-BF8B-C575B6C8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1790700"/>
            <a:ext cx="16605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B33890-45CB-438D-A1E7-650B30C4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19240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104970-F0AD-46BB-A62C-E91E43EA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2286000"/>
            <a:ext cx="13938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审核启用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0A659D-8E5B-47D5-8AE5-A5785291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2819400"/>
            <a:ext cx="13938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签署、审核、进入可出租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9C53CC-11E1-4790-8EF4-3CFB77A9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790700"/>
            <a:ext cx="16605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2D4DCD-4FFE-467E-8165-A3B33882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9240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787678-C9A4-48D1-A59F-D1A82D3A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86000"/>
            <a:ext cx="13938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租客租约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1E6CA4-9C45-4D09-8E33-20895C65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19400"/>
            <a:ext cx="13938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租客、OTR、租约与合同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84F42C-2F0C-47D4-8351-169AE317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1790700"/>
            <a:ext cx="16605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B406C8-D700-457E-AAFD-CEAB7C19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050" y="19240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60D6C7-F757-4D0B-B597-4B3B5697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050" y="2286000"/>
            <a:ext cx="13938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账单收款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434F2D-E907-424B-A501-6F85A432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050" y="2819400"/>
            <a:ext cx="13938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首期、提前交租、收款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DF9F33-3B39-48B3-8075-36060AFA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675" y="1790700"/>
            <a:ext cx="16605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1C0BC9-5781-4237-A037-3AA6C57D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9025" y="19240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645330-5F7E-47CA-8E67-96C1DCDF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9025" y="2286000"/>
            <a:ext cx="13938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运营退租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A98B37-F725-4C0B-86B6-C8FECC48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9025" y="2819400"/>
            <a:ext cx="13938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月租、服务、交接、退租</a:t>
            </a:r>
          </a:p>
        </p:txBody>
      </p:sp>
      <p:sp>
        <p:nvSpPr>
          <p:cNvPr id="33" name="screenshot-R01">
            <a:extLst xmlns:a="http://schemas.openxmlformats.org/drawingml/2006/main">
              <a:ext uri="{FF2B5EF4-FFF2-40B4-BE49-F238E27FC236}">
                <a16:creationId xmlns:a16="http://schemas.microsoft.com/office/drawing/2014/main" id="{F05F254C-22C4-416F-865F-1FB1402E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4953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A"/>
          </a:solidFill>
          <a:ln xmlns:a="http://schemas.openxmlformats.org/drawingml/2006/main" w="19050">
            <a:solidFill>
              <a:srgbClr val="0B8F96"/>
            </a:solidFill>
            <a:prstDash val="dash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DF7196-E463-4FD6-B877-132C01E0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rPr>
              <a:t>截图位置 R01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152BB9-7D45-4177-B581-7A0608A9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33950"/>
            <a:ext cx="441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租赁智控台总览 / 出租准备阶段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FBCC93-9D50-4328-9D05-31700EE6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00700"/>
            <a:ext cx="457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rPr>
              <a:t>会前替换为系统截图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6579C5-B64B-4038-85C9-50F6F213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2910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CC8DB4-A3A2-42D3-8D00-2DBD1031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00550"/>
            <a:ext cx="504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客户要记住的规则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0D24CF-AFF3-41F2-BC11-357BB38E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048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状态是流程主线；文件是过程证据；账单是财务结果。三条线互相关联，但不互相替代。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99C5EC-AD56-4DDF-B47B-5FB20913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91150"/>
            <a:ext cx="933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9EFF4"/>
          </a:solidFill>
          <a:ln xmlns:a="http://schemas.openxmlformats.org/drawingml/2006/main" w="0">
            <a:solidFill>
              <a:srgbClr val="E9EFF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252744-06B5-45EB-86DD-00D352E8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292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租赁委托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E5CE4D-4564-41C0-ADC7-FC1AAD88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391150"/>
            <a:ext cx="933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9EFF4"/>
          </a:solidFill>
          <a:ln xmlns:a="http://schemas.openxmlformats.org/drawingml/2006/main" w="0">
            <a:solidFill>
              <a:srgbClr val="E9EFF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B3911A-F163-4AE4-9ABF-4FAE6AFB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4292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授权审核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C5C1332-611F-4D65-B570-6653DC06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391150"/>
            <a:ext cx="933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9EFF4"/>
          </a:solidFill>
          <a:ln xmlns:a="http://schemas.openxmlformats.org/drawingml/2006/main" w="0">
            <a:solidFill>
              <a:srgbClr val="E9EFF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1047695-1943-4AAC-A39D-FAF667DE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4292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租约合同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256BB78-31A9-48D4-8768-66F95005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391150"/>
            <a:ext cx="933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9EFF4"/>
          </a:solidFill>
          <a:ln xmlns:a="http://schemas.openxmlformats.org/drawingml/2006/main" w="0">
            <a:solidFill>
              <a:srgbClr val="E9EFF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2E83C83-C9E5-41BF-8335-A0E2C4D4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4292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租金账单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9E79D98-5E16-4F6F-9A1A-980BEEE1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solidFill>
              <a:srgbClr val="CBD5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42032EE-F540-4089-9449-9C97A283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CCPS｜客户会议演示版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5FA9285-07DB-400D-993D-48A3AB23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091578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7819A7-4026-460D-97CB-58A87170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rPr>
              <a:t>租赁第 1 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D05A8-7D23-4A2F-9512-528C662C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先把房产准备完整，后面才不会反复补资料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19481-A3A2-4BC3-A788-4D4C97C3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出租准备阶段是房产进入租赁流程的起点。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924D25-4624-4EA7-9758-DA1E0243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9052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8EB7DC-A955-43C8-860B-2A5997DB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352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要做什么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FBC16-23BC-45E1-A46C-4CBA4701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47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96"/>
          </a:solidFill>
          <a:ln xmlns:a="http://schemas.openxmlformats.org/drawingml/2006/main" w="0">
            <a:solidFill>
              <a:srgbClr val="0B8F9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A7BD5-C772-482A-83C0-5E73A0B4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3219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建立或核对房产基本资料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11D87-7600-494A-99E7-1C797F0A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43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96"/>
          </a:solidFill>
          <a:ln xmlns:a="http://schemas.openxmlformats.org/drawingml/2006/main" w="0">
            <a:solidFill>
              <a:srgbClr val="0B8F9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B747BB-0639-487F-9188-62E924B1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76550"/>
            <a:ext cx="3219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确认业主与房产关系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ABD668-237F-4C7A-8685-BD2184CE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96"/>
          </a:solidFill>
          <a:ln xmlns:a="http://schemas.openxmlformats.org/drawingml/2006/main" w="0">
            <a:solidFill>
              <a:srgbClr val="0B8F9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94AE08-0E96-4240-8B77-5836C325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71850"/>
            <a:ext cx="3219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完成交房 / 接管记录与照片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E6CB8-E3EC-472B-9FB1-495823D8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33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96"/>
          </a:solidFill>
          <a:ln xmlns:a="http://schemas.openxmlformats.org/drawingml/2006/main" w="0">
            <a:solidFill>
              <a:srgbClr val="0B8F9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5EEF1C-91E7-4900-B402-0E868CD3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67150"/>
            <a:ext cx="3219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维护管理费、火险、地税等服务费用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1E8ECF-5B02-4475-B4AB-C171FEF9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29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96"/>
          </a:solidFill>
          <a:ln xmlns:a="http://schemas.openxmlformats.org/drawingml/2006/main" w="0">
            <a:solidFill>
              <a:srgbClr val="0B8F9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B24954-F350-487B-929B-CF9F7029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62450"/>
            <a:ext cx="3219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把房产推进到可出租状态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39D748-82F6-4989-9B32-5752D008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52600"/>
            <a:ext cx="266700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3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5103CC-0A59-4F48-8261-16CFEA75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24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rPr>
              <a:t>系统输出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29725E-1859-4415-85EE-B544422D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05050"/>
            <a:ext cx="22860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房产档案</a:t>
            </a:r>
          </a:p>
          <a:p xmlns:a="http://schemas.openxmlformats.org/drawingml/2006/main">
            <a:pPr algn="l">
              <a:defRPr sz="135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出租准备状态</a:t>
            </a:r>
          </a:p>
          <a:p xmlns:a="http://schemas.openxmlformats.org/drawingml/2006/main">
            <a:pPr algn="l">
              <a:defRPr sz="135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交接清单与照片</a:t>
            </a:r>
          </a:p>
          <a:p xmlns:a="http://schemas.openxmlformats.org/drawingml/2006/main">
            <a:pPr algn="l">
              <a:defRPr sz="135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成交服务费用配置</a:t>
            </a:r>
          </a:p>
        </p:txBody>
      </p:sp>
      <p:sp>
        <p:nvSpPr>
          <p:cNvPr id="19" name="screenshot-R02">
            <a:extLst xmlns:a="http://schemas.openxmlformats.org/drawingml/2006/main">
              <a:ext uri="{FF2B5EF4-FFF2-40B4-BE49-F238E27FC236}">
                <a16:creationId xmlns:a16="http://schemas.microsoft.com/office/drawing/2014/main" id="{1397424D-502A-4C64-93EF-16860ECF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52600"/>
            <a:ext cx="365760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A"/>
          </a:solidFill>
          <a:ln xmlns:a="http://schemas.openxmlformats.org/drawingml/2006/main" w="19050">
            <a:solidFill>
              <a:srgbClr val="0B8F96"/>
            </a:solidFill>
            <a:prstDash val="dash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E35046-F73E-4129-B9BD-D96C6CAB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24050"/>
            <a:ext cx="3276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rPr>
              <a:t>截图位置 R02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73DA3B-DC0A-4319-98F8-F1F13E7E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48050"/>
            <a:ext cx="3124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出租准备页面</a:t>
            </a:r>
          </a:p>
          <a:p xmlns:a="http://schemas.openxmlformats.org/drawingml/2006/main">
            <a:pPr algn="ctr">
              <a:defRPr sz="127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房产资料、成交服务管理、准备状态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1F27E3-4507-40EF-9F8E-6E1DEE63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05400"/>
            <a:ext cx="3276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rPr>
              <a:t>会前替换为系统截图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724052-8471-446D-8D55-B66B4CD8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solidFill>
              <a:srgbClr val="CBD5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D34EEA-436E-4A7C-91E1-F2DFC669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CCPS｜客户会议演示版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4E1107-1AEE-4B1A-8A9C-F1209F2B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294768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F9BCDD-E89B-4E61-BAC4-385A3976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rPr>
              <a:t>租赁第 2–3 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CC4C97-F77D-4EF5-9B7B-F8593E38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委托与授权是“谁可以出租、谁负责审核”的确认点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DAC68-118C-4B47-958F-4670F285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这一步把业主意愿和后台审核记录固定下来。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E02DD-FC54-4370-9A76-C18A3FB6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258127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solidFill>
              <a:srgbClr val="CBD5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8A75B-7359-408B-B963-701195BB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58127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solidFill>
              <a:srgbClr val="CBD5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A3C9FA-96C9-4924-BEA5-B5FAA6FA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288" y="258127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solidFill>
              <a:srgbClr val="CBD5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5DA3F-BFEC-4577-8350-F0C1FE52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576513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3"/>
          </a:solidFill>
          <a:ln xmlns:a="http://schemas.openxmlformats.org/drawingml/2006/main" w="19050">
            <a:solidFill>
              <a:srgbClr val="0B8F9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39A470-1577-4E5B-9A47-7CDCEF9D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4186FC-679C-4249-B305-C15787D3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30981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建立委托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30AADA-4C7C-4469-B8A1-BD80DB4B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309813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房产、期限、租赁条件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5099AC-9687-47BD-AAE8-EE3E305C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1752600"/>
            <a:ext cx="2576513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5C5DCD-3587-4AE2-91D7-F8D0696A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859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8137F4-4391-4EEA-8849-3BBFBA3F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247900"/>
            <a:ext cx="230981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生成授权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24CF04-ED23-4E67-B852-1E548FD9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781300"/>
            <a:ext cx="2309813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系统形成授权委托书草稿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25FBA0-5FC4-42DC-A954-DAB1A8DB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752600"/>
            <a:ext cx="2576513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A184BE-23BC-44E6-9DB5-09528A9D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8859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94C8F4-0B52-46F6-A151-90953A16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47900"/>
            <a:ext cx="230981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业主签署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0C2086-F3DF-4EC4-9984-92D163A0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781300"/>
            <a:ext cx="2309813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保留签署版本与时间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B4ECD4-8A4B-4EC5-B79C-9A037E0D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1752600"/>
            <a:ext cx="2576513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C21F25-66FE-4A98-9B7F-9DC4DD3D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18859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9AB325-6EFC-4959-B6EA-7346E7A7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2247900"/>
            <a:ext cx="230981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审核启用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8AA679-4FD1-4D94-A0F4-0AD717D3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2781300"/>
            <a:ext cx="2309813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通过后进入出租流程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02DB6C-DB35-4784-A8AD-9137BF0F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4953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0E7F91-CB13-4608-9769-EB0F8073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457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主要文件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7D024E-9B20-4D74-BD74-4388E9F2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457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租赁委托记录</a:t>
            </a:r>
          </a:p>
          <a:p xmlns:a="http://schemas.openxmlformats.org/drawingml/2006/main">
            <a:pPr algn="l">
              <a:defRPr sz="135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授权委托书草稿</a:t>
            </a:r>
          </a:p>
          <a:p xmlns:a="http://schemas.openxmlformats.org/drawingml/2006/main">
            <a:pPr algn="l">
              <a:defRPr sz="135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已签署授权文件</a:t>
            </a:r>
          </a:p>
          <a:p xmlns:a="http://schemas.openxmlformats.org/drawingml/2006/main">
            <a:pPr algn="l">
              <a:defRPr sz="135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审核与启用记录</a:t>
            </a:r>
          </a:p>
        </p:txBody>
      </p:sp>
      <p:sp>
        <p:nvSpPr>
          <p:cNvPr id="26" name="screenshot-R03">
            <a:extLst xmlns:a="http://schemas.openxmlformats.org/drawingml/2006/main">
              <a:ext uri="{FF2B5EF4-FFF2-40B4-BE49-F238E27FC236}">
                <a16:creationId xmlns:a16="http://schemas.microsoft.com/office/drawing/2014/main" id="{834CE920-AE30-4C93-8D9E-55C25CC7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86200"/>
            <a:ext cx="5429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A"/>
          </a:solidFill>
          <a:ln xmlns:a="http://schemas.openxmlformats.org/drawingml/2006/main" w="19050">
            <a:solidFill>
              <a:srgbClr val="0B8F96"/>
            </a:solidFill>
            <a:prstDash val="dash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66DB80-8C29-4AF2-BBB1-438D8087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57650"/>
            <a:ext cx="504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rPr>
              <a:t>截图位置 R03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C26D64-91D3-4E8B-895B-6BE081FD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29150"/>
            <a:ext cx="4895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委托授权 / 审核并启用弹窗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AF3339-2DC9-409D-A9FB-17578221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34000"/>
            <a:ext cx="504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rPr>
              <a:t>会前替换为系统截图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8A9A5B-A2F2-4025-B5DE-DBADDCA8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A4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A441"/>
                </a:solidFill>
                <a:latin typeface="Microsoft YaHei"/>
                <a:ea typeface="Microsoft YaHei"/>
                <a:cs typeface="Microsoft YaHei"/>
              </a:rPr>
              <a:t>建议会议确认：授权是否需要客户签名、审核人是否分角色、审核后是否允许退回修改。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9E8A7D-F515-450E-99DD-8B5B9451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solidFill>
              <a:srgbClr val="CBD5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F6FC01-52A1-489C-BE5C-1E8B03C5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CCPS｜客户会议演示版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A0D85A-184D-45D6-8658-96E2D4DC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557855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A3650F-2BD1-49C5-AC71-2F20BA92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rPr>
              <a:t>租赁第 4–5 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9594FC-6DCF-4479-A29B-45D56AD9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租客资料、OTR 与租约合同，形成一条可追踪的签约链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3A88E-1329-40A7-9B09-2056831D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从租客进入，到合同生效，系统持续记录每个关键节点。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0947D-5120-4B3C-9CB4-46E3AE93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0482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CC822-6825-4065-A1E0-FCE4C932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466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业务动作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2C8DD-7C22-4F50-B116-3C7E1550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47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8C92E-BF5A-41B4-9300-8A5DB5E9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4267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建立或关联租客资料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AE1AD-9AAD-4675-AEDF-6887183D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62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362DC-53E2-467F-905F-AF302355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95600"/>
            <a:ext cx="4267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录入租期、租金、押金及付款规则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A0DC1-D4B7-45EE-90E3-76299FA3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76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8944DF-5334-43D5-A5A2-84F39A69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9950"/>
            <a:ext cx="4267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生成 OTR / offer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971CD8-DBB9-4925-B4CE-2AC97498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90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E896EB-5458-40E5-996D-D51E8722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24300"/>
            <a:ext cx="4267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生成租赁合同与租约记录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BC6021-9921-4B22-9C3A-B9041A2A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05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B15429-CEF0-4446-A75D-BD4845BD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4267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完成签署后进入收款与入住</a:t>
            </a:r>
          </a:p>
        </p:txBody>
      </p:sp>
      <p:sp>
        <p:nvSpPr>
          <p:cNvPr id="16" name="screenshot-R04">
            <a:extLst xmlns:a="http://schemas.openxmlformats.org/drawingml/2006/main">
              <a:ext uri="{FF2B5EF4-FFF2-40B4-BE49-F238E27FC236}">
                <a16:creationId xmlns:a16="http://schemas.microsoft.com/office/drawing/2014/main" id="{AF81AC26-ECF4-4EBF-A0D6-6816135C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52600"/>
            <a:ext cx="25717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A"/>
          </a:solidFill>
          <a:ln xmlns:a="http://schemas.openxmlformats.org/drawingml/2006/main" w="19050">
            <a:solidFill>
              <a:srgbClr val="0B8F96"/>
            </a:solidFill>
            <a:prstDash val="dash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813B86-A434-4CA4-AD34-7C5E307E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rPr>
              <a:t>截图位置 R04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084CC2-81B8-424B-B471-309FFD71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48050"/>
            <a:ext cx="2038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租客 / 租约 / OTR 页面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3D9AD5-EC1A-4DC1-9A35-DB8E5D04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054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rPr>
              <a:t>会前替换为系统截图</a:t>
            </a:r>
          </a:p>
        </p:txBody>
      </p:sp>
      <p:sp>
        <p:nvSpPr>
          <p:cNvPr id="20" name="screenshot-R05">
            <a:extLst xmlns:a="http://schemas.openxmlformats.org/drawingml/2006/main">
              <a:ext uri="{FF2B5EF4-FFF2-40B4-BE49-F238E27FC236}">
                <a16:creationId xmlns:a16="http://schemas.microsoft.com/office/drawing/2014/main" id="{5BFD6739-A61D-4FFB-94B0-99192220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52600"/>
            <a:ext cx="25717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A"/>
          </a:solidFill>
          <a:ln xmlns:a="http://schemas.openxmlformats.org/drawingml/2006/main" w="19050">
            <a:solidFill>
              <a:srgbClr val="0B8F96"/>
            </a:solidFill>
            <a:prstDash val="dash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B17455-F505-465E-9EBF-7BCD6B90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2405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rPr>
              <a:t>截图位置 R05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549A26-7F9B-43C1-8BC0-F472EC5E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48050"/>
            <a:ext cx="2038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合同生成与签署位置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9D1804-CA0A-4C95-B365-1EF77790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1054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rPr>
              <a:t>会前替换为系统截图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CEBE74-1ECE-4C30-A33E-6A7A3960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文件链：租客记录 → OTR → Tenancy Agreement → Lease Record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CEF900-10B3-4060-9D52-CE6178CC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solidFill>
              <a:srgbClr val="CBD5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729786-1526-47A1-8EBA-889FF98C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CCPS｜客户会议演示版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289EBD-05F1-4F37-992B-E2349FD0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737815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79303D-4677-4D3E-9F9E-09529905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rPr>
              <a:t>租赁第 6 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3D0A5-F6E0-4428-B1BB-881EF183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租金与服务费用各自生成账单，但都能回到同一套租赁档案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9F486-898D-4453-8DF6-765893A0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提前交租按金额自动换算覆盖月份；服务费用支持一次性或指定月份重复收取。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D6B09-BF92-481A-88C6-512F66F6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333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3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F922A-71CC-4965-BF7B-C7D83F65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rPr>
              <a:t>租金账单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A2C2A-99F9-4E30-A11E-365278CD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2952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输入收款金额后，系统自动计算覆盖几个月；最后一个月不足整月时，显示实际已收金额，并只生成覆盖范围内的账单。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472ABD-4871-4684-862D-E7941860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14500"/>
            <a:ext cx="3333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BBE272-03D9-4B5D-B4D6-5FBF6897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859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成交服务账单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16927A-5009-494E-98B1-31A6BBA6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66950"/>
            <a:ext cx="2952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可选择只收一次，或指定多个月份收取；当前月份同步，后续月份按任务生成，并防止重复订单。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C0F14-BF61-4C79-8CE9-A8C22946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14500"/>
            <a:ext cx="3333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0B3636-3656-4CA5-851A-037EF991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859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A4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9A441"/>
                </a:solidFill>
                <a:latin typeface="Microsoft YaHei"/>
                <a:ea typeface="Microsoft YaHei"/>
                <a:cs typeface="Microsoft YaHei"/>
              </a:rPr>
              <a:t>运营与交接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F67E30-889B-447D-8943-A2E749BD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66950"/>
            <a:ext cx="2952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入住、维修、月租、收款、退租交接持续沉淀记录与照片。</a:t>
            </a:r>
          </a:p>
        </p:txBody>
      </p:sp>
      <p:sp>
        <p:nvSpPr>
          <p:cNvPr id="13" name="screenshot-R06">
            <a:extLst xmlns:a="http://schemas.openxmlformats.org/drawingml/2006/main">
              <a:ext uri="{FF2B5EF4-FFF2-40B4-BE49-F238E27FC236}">
                <a16:creationId xmlns:a16="http://schemas.microsoft.com/office/drawing/2014/main" id="{11C0A298-2D80-4DA5-9434-B99F9CC0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9530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A"/>
          </a:solidFill>
          <a:ln xmlns:a="http://schemas.openxmlformats.org/drawingml/2006/main" w="19050">
            <a:solidFill>
              <a:srgbClr val="0B8F96"/>
            </a:solidFill>
            <a:prstDash val="dash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C9E2FE-60AF-40AC-AAD7-02D3CC7C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rPr>
              <a:t>截图位置 R06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F001B1-3532-4A35-BF73-E4851F86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72025"/>
            <a:ext cx="441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确认租金收款弹窗</a:t>
            </a:r>
          </a:p>
          <a:p xmlns:a="http://schemas.openxmlformats.org/drawingml/2006/main">
            <a:pPr algn="ctr">
              <a:defRPr sz="127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金额、覆盖月份、最后一个月金额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70CA50-BBDD-4ED9-81D1-304CA221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48300"/>
            <a:ext cx="457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rPr>
              <a:t>会前替换为系统截图</a:t>
            </a:r>
          </a:p>
        </p:txBody>
      </p:sp>
      <p:sp>
        <p:nvSpPr>
          <p:cNvPr id="17" name="screenshot-R07">
            <a:extLst xmlns:a="http://schemas.openxmlformats.org/drawingml/2006/main">
              <a:ext uri="{FF2B5EF4-FFF2-40B4-BE49-F238E27FC236}">
                <a16:creationId xmlns:a16="http://schemas.microsoft.com/office/drawing/2014/main" id="{5D23A902-2513-4D55-9A67-DD022558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57650"/>
            <a:ext cx="54292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A"/>
          </a:solidFill>
          <a:ln xmlns:a="http://schemas.openxmlformats.org/drawingml/2006/main" w="19050">
            <a:solidFill>
              <a:srgbClr val="0B8F96"/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E1703D-4714-404A-9D92-7925FC67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29100"/>
            <a:ext cx="504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rPr>
              <a:t>截图位置 R07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21408E-E0BA-4207-A46F-520B5601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72025"/>
            <a:ext cx="4895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成交服务管理弹窗</a:t>
            </a:r>
          </a:p>
          <a:p xmlns:a="http://schemas.openxmlformats.org/drawingml/2006/main">
            <a:pPr algn="ctr">
              <a:defRPr sz="127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一次性 / 指定月份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41A634-435C-44F3-A50F-F1417047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448300"/>
            <a:ext cx="504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rPr>
              <a:t>会前替换为系统截图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BABF01-A0D1-4E09-919B-8AA16CC4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solidFill>
              <a:srgbClr val="CBD5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5DBF63-6110-40B8-B33D-EE50B114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CCPS｜客户会议演示版｜租赁重点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FF4DDA-1CB4-46E5-82D5-9D7E004C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876422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D0F65B2-176F-4429-9710-D75322F5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rPr>
              <a:t>买卖 / 房款主流程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D0E75-3B32-4103-9ACB-D7103D4C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买房业务的主线，是合约总价、付款分期与财务确认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F26172-9444-4683-9EC2-F5745916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当前系统重点覆盖房款计划、分期、凭证与收款确认；交房后进入房产运营。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DB06EF-9A19-4BB2-9DFF-BC726985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375" y="277177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solidFill>
              <a:srgbClr val="CBD5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B32762-255F-4BDA-B41F-65024381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277177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solidFill>
              <a:srgbClr val="CBD5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7F94D-6B21-4E6F-B3F6-B7D6B09F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77177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solidFill>
              <a:srgbClr val="CBD5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0C660-4770-44C8-8983-D3F94E0F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277177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solidFill>
              <a:srgbClr val="CBD5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F30F51-891E-4FB5-B7EA-14C4B16E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275" y="277177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solidFill>
              <a:srgbClr val="CBD5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BDCD6F-E94A-4B9C-BBF2-10A4F86A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6605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3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823A15-D398-4FB7-883D-C2D3CB6C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B87A42-B51E-4D29-B63D-4EFC8224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13938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项目与单位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7CF8FA-F8FA-4217-962D-E29154D7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13938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建筑、单位、产权资料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5D602D-3E70-49D0-BEFE-EE57B24C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7775" y="1790700"/>
            <a:ext cx="16605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403A91-C3ED-4C26-9437-5C7BEAC6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125" y="19240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4FC6A0-DDC4-456F-A3C2-2087372C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125" y="2286000"/>
            <a:ext cx="13938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购房合约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EFD0D1-EB72-432F-9E18-047528CF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125" y="2819400"/>
            <a:ext cx="13938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成交总价与付款方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722DD6-2145-4A01-A03E-2C2DB218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1790700"/>
            <a:ext cx="16605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FFD4AA-A829-4384-AA93-B1A1944B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19240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ED0E09-8073-4821-B757-FB5A26C5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2286000"/>
            <a:ext cx="13938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付款分期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2879E5-E30F-4633-BD03-92C9866A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2819400"/>
            <a:ext cx="13938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到期日递增、金额对总价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FC0FB9-D14C-4F1A-84E2-2656B0B2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790700"/>
            <a:ext cx="16605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8D6274-2685-4612-84AE-C51BFCB6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9240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747FE7-CA6C-48C6-BDE2-7C03608F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86000"/>
            <a:ext cx="13938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凭证提交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99F515-B655-4F98-BDD3-B9009088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19400"/>
            <a:ext cx="13938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客户上传每期付款凭证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A1B0E5-FF7C-45CC-B9D9-F08D5219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1790700"/>
            <a:ext cx="16605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D7206F-E1FA-4969-BC3B-61216C3D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050" y="19240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FB4103-89FC-4B56-BD95-5F914DCC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050" y="2286000"/>
            <a:ext cx="13938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财务确认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D0EEDE-B635-4419-A142-7464B86E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050" y="2819400"/>
            <a:ext cx="13938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确认收款、录入参考号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ADC745-0E47-435D-ADE8-9FCFE0B8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675" y="1790700"/>
            <a:ext cx="16605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07DE77-B8C1-4555-BB02-068CCC6B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9025" y="19240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F8B380-D555-4515-9EFD-F9615D0B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9025" y="2286000"/>
            <a:ext cx="13938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交房运营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AC6C1A-48AA-4529-A1E4-C99092E7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9025" y="2819400"/>
            <a:ext cx="13938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完成房产资料并进入运营</a:t>
            </a:r>
          </a:p>
        </p:txBody>
      </p:sp>
      <p:sp>
        <p:nvSpPr>
          <p:cNvPr id="33" name="screenshot-B01">
            <a:extLst xmlns:a="http://schemas.openxmlformats.org/drawingml/2006/main">
              <a:ext uri="{FF2B5EF4-FFF2-40B4-BE49-F238E27FC236}">
                <a16:creationId xmlns:a16="http://schemas.microsoft.com/office/drawing/2014/main" id="{6415EE86-D4EC-446E-9BD1-0C2A206A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4953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F"/>
          </a:solidFill>
          <a:ln xmlns:a="http://schemas.openxmlformats.org/drawingml/2006/main" w="19050">
            <a:solidFill>
              <a:srgbClr val="3D8DFF"/>
            </a:solidFill>
            <a:prstDash val="dash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6332DB-3284-4496-8FD4-3A30D641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rPr>
              <a:t>截图位置 B01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39F6E8-4149-4E35-93EB-2A02AAAF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33950"/>
            <a:ext cx="441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房款计划 / 付款分期页面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CE255C-2811-4489-88B9-C871E719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00700"/>
            <a:ext cx="457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rPr>
              <a:t>会前替换为系统截图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3BC6F0-F637-4796-9C5D-52C94BA2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2910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4B9B02-27C6-4D6B-AF94-E1631B5A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00550"/>
            <a:ext cx="504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买卖流程的关键控制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03E8C7-88E0-4628-AA45-20A60CD3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048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付款分期合计必须等于合约总价；到期日依序递增；每一笔付款都要有凭证、确认与收据记录。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F5B631-7C43-4F86-A588-D740E421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solidFill>
              <a:srgbClr val="CBD5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24A061-7C7E-4C72-899C-EF8E629E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CCPS｜客户会议演示版｜买卖重点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CB74DE-4AE2-459F-82A6-B4F8525A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943025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7AE210-EA52-4F8B-91B3-9EE1EC9F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rPr>
              <a:t>买卖重点页面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1E220F-9899-42F0-8F7D-DCEFA0AA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客户提交付款凭证，财务完成确认，系统把应收变成已收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B7B9CA-C9F3-4890-8D61-CCCD1EC6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这里是客户最容易理解、也最适合现场演示的一段。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453D6-24E8-4846-8F76-127FAE53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23850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8AAF8-B74C-4429-AEE3-2B643C03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客户 / 业主侧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30241A-5A25-4E4A-8544-64EE5772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86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F0B04-FB69-44CC-B5BC-663291DC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19350"/>
            <a:ext cx="2552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查看应付分期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BD6B1-79A9-4671-95B2-D9CB646F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76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BBAD33-7D0C-4D6D-AC18-A87424EC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2552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上传付款凭证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8E2000-D609-4EE4-916D-6B0BD058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67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AB4CBC-50E0-4EE2-8362-9868AB69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2552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填写付款日期与参考号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AA186A-9151-4CBA-B519-0BFB8C99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235252-40B1-4DF8-BB65-2F57164F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0"/>
            <a:ext cx="2552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查看已确认收款与余额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C9AF60-8AE5-463D-9202-44F0296C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52600"/>
            <a:ext cx="323850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769E8F-44F5-4F0A-A010-C76FD8F4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240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后台 / 财务侧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EBC402-DC80-454C-A852-5D84B235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86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96"/>
          </a:solidFill>
          <a:ln xmlns:a="http://schemas.openxmlformats.org/drawingml/2006/main" w="0">
            <a:solidFill>
              <a:srgbClr val="0B8F9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BBCA59-6AA9-4697-844E-000FF3C0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19350"/>
            <a:ext cx="2552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查看房款收款与未收款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3C2E89-D0B3-4032-80D9-DB085446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76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96"/>
          </a:solidFill>
          <a:ln xmlns:a="http://schemas.openxmlformats.org/drawingml/2006/main" w="0">
            <a:solidFill>
              <a:srgbClr val="0B8F9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446041-7D0F-4984-9BBF-E28EC1D6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09900"/>
            <a:ext cx="2552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核对金额与付款分期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DB4723-E2AF-4B2F-9AA6-2383EE6F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67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96"/>
          </a:solidFill>
          <a:ln xmlns:a="http://schemas.openxmlformats.org/drawingml/2006/main" w="0">
            <a:solidFill>
              <a:srgbClr val="0B8F9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57279D-FD2A-4172-886C-E499E3E3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00450"/>
            <a:ext cx="2552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确认收款并记录收据号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29CD93-BDDC-44B4-B670-0062BAFC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57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96"/>
          </a:solidFill>
          <a:ln xmlns:a="http://schemas.openxmlformats.org/drawingml/2006/main" w="0">
            <a:solidFill>
              <a:srgbClr val="0B8F9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7E6A86-834F-4C65-B690-03A8D27E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91000"/>
            <a:ext cx="2552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保留银行参考与凭证文件</a:t>
            </a:r>
          </a:p>
        </p:txBody>
      </p:sp>
      <p:sp>
        <p:nvSpPr>
          <p:cNvPr id="24" name="screenshot-B02">
            <a:extLst xmlns:a="http://schemas.openxmlformats.org/drawingml/2006/main">
              <a:ext uri="{FF2B5EF4-FFF2-40B4-BE49-F238E27FC236}">
                <a16:creationId xmlns:a16="http://schemas.microsoft.com/office/drawing/2014/main" id="{A016C3A1-FDB9-464B-BCA7-1D80FF3A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52600"/>
            <a:ext cx="377190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F"/>
          </a:solidFill>
          <a:ln xmlns:a="http://schemas.openxmlformats.org/drawingml/2006/main" w="19050">
            <a:solidFill>
              <a:srgbClr val="3D8DFF"/>
            </a:solidFill>
            <a:prstDash val="dash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691BC5-1DB0-4E61-871F-C1126768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24050"/>
            <a:ext cx="3390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rPr>
              <a:t>截图位置 B02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6A5389-D4A0-42EA-9CE1-53925F79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48050"/>
            <a:ext cx="323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财务确认收款 / 凭证与收据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90F104-5C91-4204-AC9D-08EF97F5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05400"/>
            <a:ext cx="3390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rPr>
              <a:t>会前替换为系统截图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4C5A29-D759-492F-AC53-F2A27779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买卖流程建议现场演示：先建立分期 → 再上传凭证 → 最后由财务确认。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3BB527-14D4-452F-91F3-C528D3D3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solidFill>
              <a:srgbClr val="CBD5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2449AA-8D46-46AB-8B74-4EDC7768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CCPS｜客户会议演示版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E685E9-4342-4118-8A43-64570C7F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568873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6BB06CF-0649-45B1-B6F5-0581CFFE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rPr>
              <a:t>文件清单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9833B-ECB8-4535-B846-EDFC4D04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文件不是附件，而是每个流程节点的结果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C1F09-DCBB-421B-A3D7-C8537C0A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下面按“阶段—动作—主要输出—确认人”整理，方便客户逐项核对。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B0230-B20C-430D-88C4-73A19C60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E5259-85B0-4034-A79D-D9FB5875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7079B6-9B9E-4749-8F19-E14C4F43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7335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DAD9F-4F60-4771-985B-78618125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478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系统动作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559BB9-00C6-4908-B827-6CD16656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33550"/>
            <a:ext cx="4305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ACB2E-1905-4BC9-B21D-A11426CC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47850"/>
            <a:ext cx="403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主要输出文件 / 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3B5780-6775-45F2-B6AC-353F0952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335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61481-832B-4C54-A59C-C9023349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47850"/>
            <a:ext cx="2305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主要确认人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B406A5-E9BA-44C4-9C17-38C2CB34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466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AC3A1A-356D-4FF2-84EE-6345DAFD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23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租赁｜准备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46857A-6B29-4DB9-9BDC-4A802577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1717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007655-2C06-4897-88E8-4D1A776B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86000"/>
            <a:ext cx="2247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建立房产与交接资料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D659A5-D77C-40BD-B43C-491FAA0B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71700"/>
            <a:ext cx="4305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F4C183-E03A-44E4-914A-82CA591A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86000"/>
            <a:ext cx="4076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房产档案、交接清单、照片、费用配置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34EB55-BC43-412B-B6A5-3F5DD836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71700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D3808B-A620-4B72-83A2-9C25AA47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86000"/>
            <a:ext cx="2343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业务 / 运营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40F92F-911A-4891-87B8-ACAAF2DC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466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4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030A7E-D104-4B7E-A3F3-FFC5D208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123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租赁｜授权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11335B-2A74-400C-8255-B285B63F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622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4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E2D17A-0B4E-47EA-80BF-3D180049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76550"/>
            <a:ext cx="2247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委托、签署、审核启用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56E668-DBB7-4804-9DAF-9F9EA4B0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62250"/>
            <a:ext cx="4305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4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D77F66-D7EF-4B02-800B-F3418A1F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76550"/>
            <a:ext cx="4076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租赁委托、授权草稿、签署文件、审核记录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589A0C-EA9A-4FC1-98A8-A080B61F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62250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4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485CC2-E596-4195-9BEA-4F371A53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76550"/>
            <a:ext cx="2343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业主 / 审核人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3F0E06-7042-46A1-ADE6-E05261CB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466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76B79D-6A25-499C-8F91-55840AF1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67100"/>
            <a:ext cx="123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租赁｜签约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7C0C20-546F-4732-AD71-75E00CE9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3528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61E89A-D2D9-4D54-817A-D8E3544A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67100"/>
            <a:ext cx="2247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建立租客、OTR、租约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A3B2D1-C10E-4C61-A840-86DA9DC5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52800"/>
            <a:ext cx="4305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F41FD1-63C8-4D3A-AA34-4840D85F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67100"/>
            <a:ext cx="4076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租客记录、OTR、Tenancy Agreement、Lease Record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4E10ED-1D17-4B4D-9102-5739CE7A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52800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8B5B2B-07D8-4BA1-9B0F-EA344C41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67100"/>
            <a:ext cx="2343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业务 / 租客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179B94-E23F-45B3-8D0E-3857B729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466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4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90711F-1CD3-43CE-A445-F4EA7620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123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租赁｜收款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D2ADBA-5B7D-4F79-9080-C8D68A9A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433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4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8EBD1F-2834-4852-ABE8-99CFEE9B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57650"/>
            <a:ext cx="2247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生成账单并确认收款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4AB525-2709-4DA6-8A1F-094E571A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43350"/>
            <a:ext cx="4305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4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3C0829-28EA-4CE3-9484-D93D25A3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057650"/>
            <a:ext cx="4076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租金账单、收款记录、收据、付款凭证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D839CA-A8AF-4538-874E-48F58C35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43350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4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9D23C65-B0DD-41E1-B4DB-AF1DA685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57650"/>
            <a:ext cx="2343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财务 / 收款人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649093-20FF-4E92-8D7B-4F235CF0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466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0CC0AD0-53FB-423E-9A83-C1366FBD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123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买卖｜房款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E25297D-3FB9-4214-90D9-BF94949B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339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335175-1285-4DE9-A354-89FF2640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48200"/>
            <a:ext cx="2247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建立分期、上传凭证、确认收款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DC059B-17DF-4DBC-9D00-56C8A5C4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33900"/>
            <a:ext cx="4305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D2D3E06-57AE-48BD-8CCA-3BEF041C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648200"/>
            <a:ext cx="4076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购房合约、付款计划、付款凭证、收据、银行参考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9D9EC71-04EA-43AB-B68C-7E9557C1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533900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37C0C74-E20B-4F4F-AD91-5C85AEEC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48200"/>
            <a:ext cx="2343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客户 / 财务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94720BD-1B2F-44EB-8469-041FA764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466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4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D60D437-CFB5-4F1A-9D02-B9C6BF91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8750"/>
            <a:ext cx="123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租赁｜交接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6BFF048-CB9E-4468-8681-FF1A35EF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1244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4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4715001-77C7-400F-B96A-D0CAB936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38750"/>
            <a:ext cx="2247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入住、退租、持续运营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88AE4F8-5CBB-4501-A534-7A62D63A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24450"/>
            <a:ext cx="4305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4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E54F49F-6526-4A0A-8E11-78F25E6A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238750"/>
            <a:ext cx="4076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入住交接报告、照片、维修与费用记录、退租报告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6F8235D-57C5-4F84-8EF9-4C3D6C5A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124450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4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89BB760-82BC-49EB-BE19-15077A62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238750"/>
            <a:ext cx="2343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运营 / 业主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0D8E98F-F114-4298-A583-41B36A6B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solidFill>
              <a:srgbClr val="CBD5D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3C6578E-B68B-4C0F-95A4-3366F393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CCPS｜客户会议演示版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741594D-C4EF-481B-9515-721933FB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968346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41C1B0-5610-4571-9818-8BEA5B2B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rPr>
              <a:t>会议演示建议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0DF493-A57A-4BEC-8B16-1DCE2A63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用两条主线带客户走一遍：先出租，再房款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315B65-7F6F-47C8-AB2A-C3A419CD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不需要一次讲完所有后台字段；先让客户建立完整的流程地图。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9EC04C-5D69-4925-9E06-BB4FD184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9530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2B3F8-0C88-4D06-A0EA-A403D135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457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建议现场演示顺序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3699D-DF4A-48AE-9120-3D61864A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96"/>
          </a:solidFill>
          <a:ln xmlns:a="http://schemas.openxmlformats.org/drawingml/2006/main" w="0">
            <a:solidFill>
              <a:srgbClr val="0B8F9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BDA2E-7A38-4517-9BBB-999E998F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4267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1｜租赁智控台：房产准备与委托授权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F0620-6F34-4723-9B37-EF6BA51B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96"/>
          </a:solidFill>
          <a:ln xmlns:a="http://schemas.openxmlformats.org/drawingml/2006/main" w="0">
            <a:solidFill>
              <a:srgbClr val="0B8F9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AD61A8-3BF5-4559-8D12-8901194B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33700"/>
            <a:ext cx="4267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2｜租客 / 租约：合同与首期账单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4FDC89-4B8D-411C-ACF8-4C55DA01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33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96"/>
          </a:solidFill>
          <a:ln xmlns:a="http://schemas.openxmlformats.org/drawingml/2006/main" w="0">
            <a:solidFill>
              <a:srgbClr val="0B8F9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BDB1B-17C5-454F-8899-66FB3C18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67100"/>
            <a:ext cx="4267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3｜收款弹窗：提前交租如何换算月份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5DC8FA-9128-482A-A2F1-B2808AAA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67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96"/>
          </a:solidFill>
          <a:ln xmlns:a="http://schemas.openxmlformats.org/drawingml/2006/main" w="0">
            <a:solidFill>
              <a:srgbClr val="0B8F9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584D3A-B22D-4154-8E3C-7A70CDAA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4267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4｜成交服务：一次性或指定月份收取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6C0085-A043-4A7C-AB36-ADF47D30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00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96"/>
          </a:solidFill>
          <a:ln xmlns:a="http://schemas.openxmlformats.org/drawingml/2006/main" w="0">
            <a:solidFill>
              <a:srgbClr val="0B8F9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9BD653-030F-4F3D-9E54-E2BDE63F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33900"/>
            <a:ext cx="4267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5｜买卖房款：分期、凭证、财务确认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1DF02B-57B9-4710-92DD-97D0FD5C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52600"/>
            <a:ext cx="54292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3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63ED64-78E6-4D5F-A18D-0992BB22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504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rPr>
              <a:t>建议与客户确认的规则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4424B6-78A1-4E83-A730-A27099EA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66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D9A44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58DFDE-4CA5-4598-8195-A5ED028B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00300"/>
            <a:ext cx="4695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合同模板与签署方式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6B6FFA-6D7D-4E12-83BD-F413F542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05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D9A44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CEEBAB-080A-4FB8-AE63-9B105E91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38450"/>
            <a:ext cx="4695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业主 / 客户 / 财务的审批角色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4DC451-BF87-4136-ACEB-CFEFD01D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43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D9A44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F68D6C-BC4F-4ECF-85A5-F564E607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76600"/>
            <a:ext cx="4695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哪些服务只收一次，哪些按月份收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26A5FF-EAEC-4A10-8D6A-791670BB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81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D9A44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B16FAC-C302-49D7-B3CE-84C77AE9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14750"/>
            <a:ext cx="4695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账单生成时间与重复生成规则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02E705-5352-4E78-9E62-B735057A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1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D9A44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DD0501-03DB-48AD-811E-C2E97F5C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52900"/>
            <a:ext cx="4695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收据、凭证、交接报告的格式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914E3E-5132-483B-8AEC-D1446FB3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57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D9A44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587833-1874-4395-9BA5-8DFA0C17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91050"/>
            <a:ext cx="4695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是否需要对接会计或银行系统</a:t>
            </a:r>
          </a:p>
        </p:txBody>
      </p:sp>
      <p:sp>
        <p:nvSpPr>
          <p:cNvPr id="30" name="screenshot-C01">
            <a:extLst xmlns:a="http://schemas.openxmlformats.org/drawingml/2006/main">
              <a:ext uri="{FF2B5EF4-FFF2-40B4-BE49-F238E27FC236}">
                <a16:creationId xmlns:a16="http://schemas.microsoft.com/office/drawing/2014/main" id="{C583E8B6-37C5-4E23-B018-BB7299F2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19050">
            <a:solidFill>
              <a:srgbClr val="0B8F96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8A5368-4DAC-4E00-84C2-00512252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769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8F96"/>
                </a:solidFill>
                <a:latin typeface="Microsoft YaHei"/>
                <a:ea typeface="Microsoft YaHei"/>
                <a:cs typeface="Microsoft YaHei"/>
              </a:rPr>
              <a:t>截图位置 C01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ACED26-FDCF-4B20-BA1E-87FD13C7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7690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会后补充：客户最关心的首页或报表截图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9B12C9-0153-449F-B0A1-129E749C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6769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C8E9D"/>
                </a:solidFill>
                <a:latin typeface="Microsoft YaHei"/>
                <a:ea typeface="Microsoft YaHei"/>
                <a:cs typeface="Microsoft YaHei"/>
              </a:rPr>
              <a:t>会前替换为系统截图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F172B0-0973-4570-9832-6E7F83A4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solidFill>
              <a:srgbClr val="CBD5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6F2DBD-3357-4832-9804-10A2E62B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CCPS｜客户会议演示版｜下一步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7F8FB0-828F-491B-94EF-185DA541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718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172566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2026-08-02T09:41:39.0420000Z</dcterms:created>
  <dcterms:modified xsi:type="dcterms:W3CDTF">2026-08-02T09:41:39.0420000Z</dcterms:modified>
</coreProperties>
</file>