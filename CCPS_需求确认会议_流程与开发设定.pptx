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开场目标：今天不做泛泛演示，而是把流程差异、系统边界和交付支持方式逐项确认。</a:t>
            </a:r>
          </a:p>
          <a:p>
            <a:r>
              <a:t>标识规则：当前系统＝代码中可核验；待确认＝会议决策；目标方向＝客户已提出但仍需验收。</a:t>
            </a:r>
          </a:p>
          <a:p/>
          <a:p>
            <a:r>
              <a:t>[Sources]</a:t>
            </a:r>
          </a:p>
          <a:p>
            <a:r>
              <a:t>- CCPS local source code: frontend/src/components/AdminPropertyProcessWorkspace.vue; AdminTenancyWorkspace.vue; AdminBuildingPaymentWorkspace.vue</a:t>
            </a:r>
          </a:p>
          <a:p>
            <a:r>
              <a:t>- Customer requirements supplied in the CCPS meeting-preparation conversation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建议先确认流程事实，再讨论技术方案，最后确认服务器和反馈机制。</a:t>
            </a:r>
          </a:p>
          <a:p/>
          <a:p>
            <a:r>
              <a:t>[Sources]</a:t>
            </a:r>
          </a:p>
          <a:p>
            <a:r>
              <a:t>- Customer meeting agenda derived from the user’s three requested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不要把附件名称延伸为系统中不存在的文件。电子签约只写签约状态，不写‘签署记录附件’。续租按新建租约理解，开始日为原租约结束日次日。</a:t>
            </a:r>
          </a:p>
          <a:p/>
          <a:p>
            <a:r>
              <a:t>[Sources]</a:t>
            </a:r>
          </a:p>
          <a:p>
            <a:r>
              <a:t>- CCPS local source code: AdminRentalMandateWorkspace.vue; AdminTenancyWorkspace.vue; AdminRentCollectionWorkspace.vue; AdminFinanceWorkspace.vue</a:t>
            </a:r>
          </a:p>
          <a:p>
            <a:r>
              <a:t>- Customer renewal and rent-prepayment requirements supplied in conversation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这里只列出代码中可以核验的购房合同、付款计划、付款凭证、收据、交房清单和照片/资料，不扩展新的交付文件。</a:t>
            </a:r>
          </a:p>
          <a:p/>
          <a:p>
            <a:r>
              <a:t>[Sources]</a:t>
            </a:r>
          </a:p>
          <a:p>
            <a:r>
              <a:t>- CCPS local source code: AdminPropertyProcessWorkspace.vue; AdminBuildingPaymentWorkspace.vue; AdminPropertyDetailWorkspace.vue; AdminFinanceWorkspace.vue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这一页不要直接宣布‘已完成’。建议现场逐项演示，标记为符合、部分符合、不符合，并记录优先级。</a:t>
            </a:r>
          </a:p>
          <a:p/>
          <a:p>
            <a:r>
              <a:t>[Sources]</a:t>
            </a:r>
          </a:p>
          <a:p>
            <a:r>
              <a:t>- Customer requirements supplied in conversation: rent prepayment, recurring service charges, mandate activation, renewal, operations-center API alignment</a:t>
            </a:r>
          </a:p>
          <a:p>
            <a:r>
              <a:t>- CCPS local source code: the corresponding frontend workspaces and existing backend APIs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建议采用关键节点混合制，但最终由客户确认。关键附件清单必须从现有系统和客户实际资料出发，不现场创造文件名称。</a:t>
            </a:r>
          </a:p>
          <a:p/>
          <a:p>
            <a:r>
              <a:t>[Sources]</a:t>
            </a:r>
          </a:p>
          <a:p>
            <a:r>
              <a:t>- System-design decision requested by the user: whether attachments define completion or are supplemental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把每一项写入会议纪要；不能只确认页面长相，还要确认状态、权限、账单和异常处理口径。</a:t>
            </a:r>
          </a:p>
          <a:p/>
          <a:p>
            <a:r>
              <a:t>[Sources]</a:t>
            </a:r>
          </a:p>
          <a:p>
            <a:r>
              <a:t>- System-design decision checklist synthesized from CCPS current workflows and the user’s meeting objective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会上补充确认：分配从最早未结清月份还是指定月份开始；最后不足月如何舍入；已生成账单是否允许删除或只能冲销。</a:t>
            </a:r>
          </a:p>
          <a:p/>
          <a:p>
            <a:r>
              <a:t>[Sources]</a:t>
            </a:r>
          </a:p>
          <a:p>
            <a:r>
              <a:t>- Customer requirements supplied in conversation: rent-only prepayment allocation and one-time/recurring selected-month service charges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如果客户要求系统自动判断业务真实性，需要另外确认数据来源和责任；系统默认只对规则和录入结果负责。</a:t>
            </a:r>
          </a:p>
          <a:p/>
          <a:p>
            <a:r>
              <a:t>[Sources]</a:t>
            </a:r>
          </a:p>
          <a:p>
            <a:r>
              <a:t>- Acceptance-boundary proposal synthesized for the CCPS customer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这一页全部是待确认，不假设客户已有服务器，也不假设由开发方长期托管。重点确认所有权、访问权和恢复责任。</a:t>
            </a:r>
          </a:p>
          <a:p/>
          <a:p>
            <a:r>
              <a:t>[Sources]</a:t>
            </a:r>
          </a:p>
          <a:p>
            <a:r>
              <a:t>- Infrastructure and delivery discussion requested by the user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会上确认唯一反馈入口，避免微信群、口头、电话同时存在却无人跟进。还需确认各等级响应时限和紧急联系人。</a:t>
            </a:r>
          </a:p>
          <a:p/>
          <a:p>
            <a:r>
              <a:t>[Sources]</a:t>
            </a:r>
          </a:p>
          <a:p>
            <a:r>
              <a:t>- Support-process proposal synthesized for the CCPS customer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建议逐项点名确认，并把未决事项明确成会后任务，不用‘后面再看看’作为结论。</a:t>
            </a:r>
          </a:p>
          <a:p/>
          <a:p>
            <a:r>
              <a:t>[Sources]</a:t>
            </a:r>
          </a:p>
          <a:p>
            <a:r>
              <a:t>- Meeting decision checklist synthesized from slides 3–11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结束时确认会后文件由谁整理、谁确认，以及下一次检查时间。</a:t>
            </a:r>
          </a:p>
          <a:p/>
          <a:p>
            <a:r>
              <a:t>[Sources]</a:t>
            </a:r>
          </a:p>
          <a:p>
            <a:r>
              <a:t>- Closing summary derived from the meeting objectives in this deck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400050" y="400050"/>
            <a:ext cx="619125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3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CCPS 房产管理系统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886700" y="400050"/>
            <a:ext cx="390525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客户需求确认会议 · 2026/08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2428875"/>
            <a:ext cx="10001250" cy="371475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l">
              <a:defRPr sz="58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流程差异
开发设定
交付与支持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400050" y="257175"/>
            <a:ext cx="2857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需求确认会议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00050" y="542925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今天要确认三类问题</a:t>
            </a: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400050" y="1257300"/>
            <a:ext cx="11391900" cy="95"/>
          </a:xfrm>
          <a:prstGeom prst="straightConnector1">
            <a:avLst/>
          </a:prstGeom>
          <a:ln w="9525">
            <a:solidFill>
              <a:srgbClr val="D5DEE5"/>
            </a:solidFill>
            <a:prstDash val="solid"/>
          </a:ln>
        </p:spPr>
      </p:cxnSp>
      <p:sp>
        <p:nvSpPr>
          <p:cNvPr id="4" name="矩形 3"/>
          <p:cNvSpPr>
            <a:spLocks noGrp="1"/>
          </p:cNvSpPr>
          <p:nvPr/>
        </p:nvSpPr>
        <p:spPr>
          <a:xfrm>
            <a:off x="400050" y="1752600"/>
            <a:ext cx="1143000" cy="704850"/>
          </a:xfrm>
          <a:prstGeom prst="rect">
            <a:avLst/>
          </a:prstGeom>
        </p:spPr>
        <p:txBody>
          <a:bodyPr wrap="square" lIns="0" tIns="0" rIns="0" bIns="0" anchor="t">
            <a:normAutofit fontScale="96354"/>
          </a:bodyPr>
          <a:lstStyle/>
          <a:p>
            <a:pPr algn="l">
              <a:defRPr sz="480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2590800"/>
            <a:ext cx="3143250" cy="476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流程差异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3238500"/>
            <a:ext cx="3143250" cy="1352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现在系统怎么走？
客户实际怎么做？
差异优先级是什么？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333875" y="1752600"/>
            <a:ext cx="1143000" cy="704850"/>
          </a:xfrm>
          <a:prstGeom prst="rect">
            <a:avLst/>
          </a:prstGeom>
        </p:spPr>
        <p:txBody>
          <a:bodyPr wrap="square" lIns="0" tIns="0" rIns="0" bIns="0" anchor="t">
            <a:normAutofit fontScale="96354"/>
          </a:bodyPr>
          <a:lstStyle/>
          <a:p>
            <a:pPr algn="l">
              <a:defRPr sz="480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333875" y="2590800"/>
            <a:ext cx="3143250" cy="476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开发设定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333875" y="3238500"/>
            <a:ext cx="3143250" cy="1352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状态和附件谁说了算？
权限、账单、日期、审计
如何统一规则？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267700" y="1752600"/>
            <a:ext cx="1143000" cy="704850"/>
          </a:xfrm>
          <a:prstGeom prst="rect">
            <a:avLst/>
          </a:prstGeom>
        </p:spPr>
        <p:txBody>
          <a:bodyPr wrap="square" lIns="0" tIns="0" rIns="0" bIns="0" anchor="t">
            <a:normAutofit fontScale="96354"/>
          </a:bodyPr>
          <a:lstStyle/>
          <a:p>
            <a:pPr algn="l">
              <a:defRPr sz="480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267700" y="2590800"/>
            <a:ext cx="3143250" cy="476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交付与支持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267700" y="3238500"/>
            <a:ext cx="3143250" cy="1352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服务器由谁负责？
如何发布、备份、监控？
问题如何提交和闭环？</a:t>
            </a: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00050" y="5372100"/>
            <a:ext cx="11010900" cy="666750"/>
          </a:xfrm>
          <a:prstGeom prst="roundRect">
            <a:avLst>
              <a:gd name="adj" fmla="val 11429"/>
            </a:avLst>
          </a:prstGeom>
          <a:solidFill>
            <a:srgbClr val="E5F5F6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28650" y="5562600"/>
            <a:ext cx="105727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会议完成标准：每个待确认项都有明确选择、负责人和验收方式。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6" name="矩形 55"/>
          <p:cNvSpPr>
            <a:spLocks noGrp="1"/>
          </p:cNvSpPr>
          <p:nvPr/>
        </p:nvSpPr>
        <p:spPr>
          <a:xfrm>
            <a:off x="400050" y="257175"/>
            <a:ext cx="2857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需求确认会议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00050" y="542925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当前租房主流程｜以系统中可操作内容为准</a:t>
            </a:r>
          </a:p>
        </p:txBody>
      </p:sp>
      <p:cxnSp>
        <p:nvCxnSpPr>
          <p:cNvPr id="58" name="直接箭头连接符 57"/>
          <p:cNvCxnSpPr/>
          <p:nvPr/>
        </p:nvCxnSpPr>
        <p:spPr>
          <a:xfrm>
            <a:off x="400050" y="1257300"/>
            <a:ext cx="11391900" cy="95"/>
          </a:xfrm>
          <a:prstGeom prst="straightConnector1">
            <a:avLst/>
          </a:prstGeom>
          <a:ln w="9525">
            <a:solidFill>
              <a:srgbClr val="D5DEE5"/>
            </a:solidFill>
            <a:prstDash val="solid"/>
          </a:ln>
        </p:spPr>
      </p:cxnSp>
      <p:sp>
        <p:nvSpPr>
          <p:cNvPr id="4" name="圆角矩形 3"/>
          <p:cNvSpPr>
            <a:spLocks noGrp="1"/>
          </p:cNvSpPr>
          <p:nvPr/>
        </p:nvSpPr>
        <p:spPr>
          <a:xfrm>
            <a:off x="9525000" y="838200"/>
            <a:ext cx="1885950" cy="266700"/>
          </a:xfrm>
          <a:prstGeom prst="roundRect">
            <a:avLst>
              <a:gd name="adj" fmla="val 28571"/>
            </a:avLst>
          </a:prstGeom>
          <a:solidFill>
            <a:srgbClr val="E5F5F6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667875" y="885825"/>
            <a:ext cx="16002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当前系统 · 会上核验</a:t>
            </a:r>
          </a:p>
        </p:txBody>
      </p:sp>
      <p:cxnSp>
        <p:nvCxnSpPr>
          <p:cNvPr id="61" name="直接箭头连接符 60"/>
          <p:cNvCxnSpPr/>
          <p:nvPr/>
        </p:nvCxnSpPr>
        <p:spPr>
          <a:xfrm>
            <a:off x="2162175" y="2133600"/>
            <a:ext cx="133350" cy="95"/>
          </a:xfrm>
          <a:prstGeom prst="straightConnector1">
            <a:avLst/>
          </a:prstGeom>
          <a:ln w="19050">
            <a:solidFill>
              <a:srgbClr val="007F8B"/>
            </a:solidFill>
            <a:prstDash val="solid"/>
          </a:ln>
        </p:spPr>
      </p:cxnSp>
      <p:cxnSp>
        <p:nvCxnSpPr>
          <p:cNvPr id="62" name="直接箭头连接符 61"/>
          <p:cNvCxnSpPr/>
          <p:nvPr/>
        </p:nvCxnSpPr>
        <p:spPr>
          <a:xfrm>
            <a:off x="4095750" y="2133600"/>
            <a:ext cx="133350" cy="95"/>
          </a:xfrm>
          <a:prstGeom prst="straightConnector1">
            <a:avLst/>
          </a:prstGeom>
          <a:ln w="19050">
            <a:solidFill>
              <a:srgbClr val="007F8B"/>
            </a:solidFill>
            <a:prstDash val="solid"/>
          </a:ln>
        </p:spPr>
      </p:cxnSp>
      <p:cxnSp>
        <p:nvCxnSpPr>
          <p:cNvPr id="63" name="直接箭头连接符 62"/>
          <p:cNvCxnSpPr/>
          <p:nvPr/>
        </p:nvCxnSpPr>
        <p:spPr>
          <a:xfrm>
            <a:off x="6029325" y="2133600"/>
            <a:ext cx="133350" cy="95"/>
          </a:xfrm>
          <a:prstGeom prst="straightConnector1">
            <a:avLst/>
          </a:prstGeom>
          <a:ln w="19050">
            <a:solidFill>
              <a:srgbClr val="007F8B"/>
            </a:solidFill>
            <a:prstDash val="solid"/>
          </a:ln>
        </p:spPr>
      </p:cxnSp>
      <p:cxnSp>
        <p:nvCxnSpPr>
          <p:cNvPr id="64" name="直接箭头连接符 63"/>
          <p:cNvCxnSpPr/>
          <p:nvPr/>
        </p:nvCxnSpPr>
        <p:spPr>
          <a:xfrm>
            <a:off x="7962900" y="2133600"/>
            <a:ext cx="133350" cy="95"/>
          </a:xfrm>
          <a:prstGeom prst="straightConnector1">
            <a:avLst/>
          </a:prstGeom>
          <a:ln w="19050">
            <a:solidFill>
              <a:srgbClr val="007F8B"/>
            </a:solidFill>
            <a:prstDash val="solid"/>
          </a:ln>
        </p:spPr>
      </p:cxnSp>
      <p:cxnSp>
        <p:nvCxnSpPr>
          <p:cNvPr id="65" name="直接箭头连接符 64"/>
          <p:cNvCxnSpPr/>
          <p:nvPr/>
        </p:nvCxnSpPr>
        <p:spPr>
          <a:xfrm>
            <a:off x="9896475" y="2133600"/>
            <a:ext cx="133350" cy="95"/>
          </a:xfrm>
          <a:prstGeom prst="straightConnector1">
            <a:avLst/>
          </a:prstGeom>
          <a:ln w="19050">
            <a:solidFill>
              <a:srgbClr val="007F8B"/>
            </a:solidFill>
            <a:prstDash val="solid"/>
          </a:ln>
        </p:spPr>
      </p:cxnSp>
      <p:sp>
        <p:nvSpPr>
          <p:cNvPr id="11" name="圆角矩形 10"/>
          <p:cNvSpPr>
            <a:spLocks noGrp="1"/>
          </p:cNvSpPr>
          <p:nvPr/>
        </p:nvSpPr>
        <p:spPr>
          <a:xfrm>
            <a:off x="400050" y="1676400"/>
            <a:ext cx="1724025" cy="933450"/>
          </a:xfrm>
          <a:prstGeom prst="roundRect">
            <a:avLst>
              <a:gd name="adj" fmla="val 8163"/>
            </a:avLst>
          </a:prstGeom>
          <a:solidFill>
            <a:srgbClr val="007F8B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33400" y="1790700"/>
            <a:ext cx="3619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33400" y="2076450"/>
            <a:ext cx="1457325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出租委托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00050" y="2838450"/>
            <a:ext cx="17240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系统操作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00050" y="3114675"/>
            <a:ext cx="1724025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9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新建委托
提交审核并启用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00050" y="4019550"/>
            <a:ext cx="17240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资料 / 结果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00050" y="4295775"/>
            <a:ext cx="1724025" cy="704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9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委托记录
授权文件</a:t>
            </a: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2333625" y="1676400"/>
            <a:ext cx="1724025" cy="933450"/>
          </a:xfrm>
          <a:prstGeom prst="roundRect">
            <a:avLst>
              <a:gd name="adj" fmla="val 8163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466975" y="1790700"/>
            <a:ext cx="3619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466975" y="2076450"/>
            <a:ext cx="1457325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租客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333625" y="2838450"/>
            <a:ext cx="17240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系统操作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333625" y="3114675"/>
            <a:ext cx="1724025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9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新建或选择租客
补充基础信息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333625" y="4019550"/>
            <a:ext cx="17240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资料 / 结果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333625" y="4295775"/>
            <a:ext cx="1724025" cy="704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9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租客档案</a:t>
            </a: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4267200" y="1676400"/>
            <a:ext cx="1724025" cy="933450"/>
          </a:xfrm>
          <a:prstGeom prst="roundRect">
            <a:avLst>
              <a:gd name="adj" fmla="val 8163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400550" y="1790700"/>
            <a:ext cx="3619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400550" y="2076450"/>
            <a:ext cx="1457325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租约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267200" y="2838450"/>
            <a:ext cx="17240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系统操作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267200" y="3114675"/>
            <a:ext cx="1724025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9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选房产与租客
设置日期、租金等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267200" y="4019550"/>
            <a:ext cx="17240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资料 / 结果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267200" y="4295775"/>
            <a:ext cx="1724025" cy="704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9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租约记录</a:t>
            </a: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6200775" y="1676400"/>
            <a:ext cx="1724025" cy="933450"/>
          </a:xfrm>
          <a:prstGeom prst="roundRect">
            <a:avLst>
              <a:gd name="adj" fmla="val 8163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334125" y="1790700"/>
            <a:ext cx="3619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334125" y="2076450"/>
            <a:ext cx="1457325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合同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200775" y="2838450"/>
            <a:ext cx="17240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系统操作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200775" y="3114675"/>
            <a:ext cx="1724025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9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生成/上传合同
进入电子签约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200775" y="4019550"/>
            <a:ext cx="17240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资料 / 结果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200775" y="4295775"/>
            <a:ext cx="1724025" cy="704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9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租赁合同文件
签约状态</a:t>
            </a: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8134350" y="1676400"/>
            <a:ext cx="1724025" cy="933450"/>
          </a:xfrm>
          <a:prstGeom prst="roundRect">
            <a:avLst>
              <a:gd name="adj" fmla="val 8163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267700" y="1790700"/>
            <a:ext cx="3619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267700" y="2076450"/>
            <a:ext cx="1457325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账单收款</a:t>
            </a: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134350" y="2838450"/>
            <a:ext cx="17240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系统操作</a:t>
            </a: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134350" y="3114675"/>
            <a:ext cx="1724025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9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查看租金账单
登记收款、财务确认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134350" y="4019550"/>
            <a:ext cx="17240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资料 / 结果</a:t>
            </a: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134350" y="4295775"/>
            <a:ext cx="1724025" cy="704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9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付款凭证（可选）
收据</a:t>
            </a: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10067925" y="1676400"/>
            <a:ext cx="1724025" cy="933450"/>
          </a:xfrm>
          <a:prstGeom prst="roundRect">
            <a:avLst>
              <a:gd name="adj" fmla="val 8163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0201275" y="1790700"/>
            <a:ext cx="3619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0201275" y="2076450"/>
            <a:ext cx="1457325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续租</a:t>
            </a: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0067925" y="2838450"/>
            <a:ext cx="17240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系统操作</a:t>
            </a: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0067925" y="3114675"/>
            <a:ext cx="1724025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9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沿用房产和租客
新建下一份租约</a:t>
            </a: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0067925" y="4019550"/>
            <a:ext cx="17240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资料 / 结果</a:t>
            </a: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0067925" y="4295775"/>
            <a:ext cx="1724025" cy="704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9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新租约
新合同与新账单</a:t>
            </a: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400050" y="5581650"/>
            <a:ext cx="11391900" cy="590550"/>
          </a:xfrm>
          <a:prstGeom prst="roundRect">
            <a:avLst>
              <a:gd name="adj" fmla="val 12903"/>
            </a:avLst>
          </a:prstGeom>
          <a:solidFill>
            <a:srgbClr val="FFF3D6"/>
          </a:solidFill>
          <a:ln w="0">
            <a:noFill/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590550" y="5753100"/>
            <a:ext cx="110109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D68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重点核验：提前交租、服务费账单、委托状态转换、续租起始日与新账单是否符合实际业务。</a:t>
            </a: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6" name="矩形 55"/>
          <p:cNvSpPr>
            <a:spLocks noGrp="1"/>
          </p:cNvSpPr>
          <p:nvPr/>
        </p:nvSpPr>
        <p:spPr>
          <a:xfrm>
            <a:off x="400050" y="257175"/>
            <a:ext cx="2857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需求确认会议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00050" y="542925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当前买房主流程｜以系统中可操作内容为准</a:t>
            </a:r>
          </a:p>
        </p:txBody>
      </p:sp>
      <p:cxnSp>
        <p:nvCxnSpPr>
          <p:cNvPr id="58" name="直接箭头连接符 57"/>
          <p:cNvCxnSpPr/>
          <p:nvPr/>
        </p:nvCxnSpPr>
        <p:spPr>
          <a:xfrm>
            <a:off x="400050" y="1257300"/>
            <a:ext cx="11391900" cy="95"/>
          </a:xfrm>
          <a:prstGeom prst="straightConnector1">
            <a:avLst/>
          </a:prstGeom>
          <a:ln w="9525">
            <a:solidFill>
              <a:srgbClr val="D5DEE5"/>
            </a:solidFill>
            <a:prstDash val="solid"/>
          </a:ln>
        </p:spPr>
      </p:cxnSp>
      <p:sp>
        <p:nvSpPr>
          <p:cNvPr id="4" name="圆角矩形 3"/>
          <p:cNvSpPr>
            <a:spLocks noGrp="1"/>
          </p:cNvSpPr>
          <p:nvPr/>
        </p:nvSpPr>
        <p:spPr>
          <a:xfrm>
            <a:off x="9525000" y="838200"/>
            <a:ext cx="1885950" cy="266700"/>
          </a:xfrm>
          <a:prstGeom prst="roundRect">
            <a:avLst>
              <a:gd name="adj" fmla="val 28571"/>
            </a:avLst>
          </a:prstGeom>
          <a:solidFill>
            <a:srgbClr val="E5F5F6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667875" y="885825"/>
            <a:ext cx="16002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当前系统 · 会上核验</a:t>
            </a:r>
          </a:p>
        </p:txBody>
      </p:sp>
      <p:cxnSp>
        <p:nvCxnSpPr>
          <p:cNvPr id="61" name="直接箭头连接符 60"/>
          <p:cNvCxnSpPr/>
          <p:nvPr/>
        </p:nvCxnSpPr>
        <p:spPr>
          <a:xfrm>
            <a:off x="2162175" y="2133600"/>
            <a:ext cx="133350" cy="95"/>
          </a:xfrm>
          <a:prstGeom prst="straightConnector1">
            <a:avLst/>
          </a:prstGeom>
          <a:ln w="19050">
            <a:solidFill>
              <a:srgbClr val="007F8B"/>
            </a:solidFill>
            <a:prstDash val="solid"/>
          </a:ln>
        </p:spPr>
      </p:cxnSp>
      <p:cxnSp>
        <p:nvCxnSpPr>
          <p:cNvPr id="62" name="直接箭头连接符 61"/>
          <p:cNvCxnSpPr/>
          <p:nvPr/>
        </p:nvCxnSpPr>
        <p:spPr>
          <a:xfrm>
            <a:off x="4095750" y="2133600"/>
            <a:ext cx="133350" cy="95"/>
          </a:xfrm>
          <a:prstGeom prst="straightConnector1">
            <a:avLst/>
          </a:prstGeom>
          <a:ln w="19050">
            <a:solidFill>
              <a:srgbClr val="007F8B"/>
            </a:solidFill>
            <a:prstDash val="solid"/>
          </a:ln>
        </p:spPr>
      </p:cxnSp>
      <p:cxnSp>
        <p:nvCxnSpPr>
          <p:cNvPr id="63" name="直接箭头连接符 62"/>
          <p:cNvCxnSpPr/>
          <p:nvPr/>
        </p:nvCxnSpPr>
        <p:spPr>
          <a:xfrm>
            <a:off x="6029325" y="2133600"/>
            <a:ext cx="133350" cy="95"/>
          </a:xfrm>
          <a:prstGeom prst="straightConnector1">
            <a:avLst/>
          </a:prstGeom>
          <a:ln w="19050">
            <a:solidFill>
              <a:srgbClr val="007F8B"/>
            </a:solidFill>
            <a:prstDash val="solid"/>
          </a:ln>
        </p:spPr>
      </p:cxnSp>
      <p:cxnSp>
        <p:nvCxnSpPr>
          <p:cNvPr id="64" name="直接箭头连接符 63"/>
          <p:cNvCxnSpPr/>
          <p:nvPr/>
        </p:nvCxnSpPr>
        <p:spPr>
          <a:xfrm>
            <a:off x="7962900" y="2133600"/>
            <a:ext cx="133350" cy="95"/>
          </a:xfrm>
          <a:prstGeom prst="straightConnector1">
            <a:avLst/>
          </a:prstGeom>
          <a:ln w="19050">
            <a:solidFill>
              <a:srgbClr val="007F8B"/>
            </a:solidFill>
            <a:prstDash val="solid"/>
          </a:ln>
        </p:spPr>
      </p:cxnSp>
      <p:cxnSp>
        <p:nvCxnSpPr>
          <p:cNvPr id="65" name="直接箭头连接符 64"/>
          <p:cNvCxnSpPr/>
          <p:nvPr/>
        </p:nvCxnSpPr>
        <p:spPr>
          <a:xfrm>
            <a:off x="9896475" y="2133600"/>
            <a:ext cx="133350" cy="95"/>
          </a:xfrm>
          <a:prstGeom prst="straightConnector1">
            <a:avLst/>
          </a:prstGeom>
          <a:ln w="19050">
            <a:solidFill>
              <a:srgbClr val="007F8B"/>
            </a:solidFill>
            <a:prstDash val="solid"/>
          </a:ln>
        </p:spPr>
      </p:cxnSp>
      <p:sp>
        <p:nvSpPr>
          <p:cNvPr id="11" name="圆角矩形 10"/>
          <p:cNvSpPr>
            <a:spLocks noGrp="1"/>
          </p:cNvSpPr>
          <p:nvPr/>
        </p:nvSpPr>
        <p:spPr>
          <a:xfrm>
            <a:off x="400050" y="1676400"/>
            <a:ext cx="1724025" cy="933450"/>
          </a:xfrm>
          <a:prstGeom prst="roundRect">
            <a:avLst>
              <a:gd name="adj" fmla="val 8163"/>
            </a:avLst>
          </a:prstGeom>
          <a:solidFill>
            <a:srgbClr val="007F8B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33400" y="1790700"/>
            <a:ext cx="3619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33400" y="2076450"/>
            <a:ext cx="1457325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项目 / 房产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00050" y="2838450"/>
            <a:ext cx="17240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系统操作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00050" y="3114675"/>
            <a:ext cx="1724025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9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建立项目、房产
关联业主资料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00050" y="4019550"/>
            <a:ext cx="17240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资料 / 结果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00050" y="4295775"/>
            <a:ext cx="1724025" cy="704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9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项目与房产档案</a:t>
            </a: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2333625" y="1676400"/>
            <a:ext cx="1724025" cy="933450"/>
          </a:xfrm>
          <a:prstGeom prst="roundRect">
            <a:avLst>
              <a:gd name="adj" fmla="val 8163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466975" y="1790700"/>
            <a:ext cx="3619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466975" y="2076450"/>
            <a:ext cx="1457325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购房合同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333625" y="2838450"/>
            <a:ext cx="17240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系统操作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333625" y="3114675"/>
            <a:ext cx="1724025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9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登记合同信息
上传合同文件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333625" y="4019550"/>
            <a:ext cx="17240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资料 / 结果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333625" y="4295775"/>
            <a:ext cx="1724025" cy="704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9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购房合同记录
合同文件</a:t>
            </a: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4267200" y="1676400"/>
            <a:ext cx="1724025" cy="933450"/>
          </a:xfrm>
          <a:prstGeom prst="roundRect">
            <a:avLst>
              <a:gd name="adj" fmla="val 8163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400550" y="1790700"/>
            <a:ext cx="3619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400550" y="2076450"/>
            <a:ext cx="1457325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付款计划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267200" y="2838450"/>
            <a:ext cx="17240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系统操作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267200" y="3114675"/>
            <a:ext cx="1724025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9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关联购房合同
设置分期与到期日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267200" y="4019550"/>
            <a:ext cx="17240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资料 / 结果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267200" y="4295775"/>
            <a:ext cx="1724025" cy="704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9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付款计划
分期账单</a:t>
            </a: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6200775" y="1676400"/>
            <a:ext cx="1724025" cy="933450"/>
          </a:xfrm>
          <a:prstGeom prst="roundRect">
            <a:avLst>
              <a:gd name="adj" fmla="val 8163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334125" y="1790700"/>
            <a:ext cx="3619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334125" y="2076450"/>
            <a:ext cx="1457325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付款登记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200775" y="2838450"/>
            <a:ext cx="17240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系统操作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200775" y="3114675"/>
            <a:ext cx="1724025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9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登记房款付款
补充付款资料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200775" y="4019550"/>
            <a:ext cx="17240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资料 / 结果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200775" y="4295775"/>
            <a:ext cx="1724025" cy="704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9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付款记录
付款凭证（如使用）</a:t>
            </a: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8134350" y="1676400"/>
            <a:ext cx="1724025" cy="933450"/>
          </a:xfrm>
          <a:prstGeom prst="roundRect">
            <a:avLst>
              <a:gd name="adj" fmla="val 8163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267700" y="1790700"/>
            <a:ext cx="3619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267700" y="2076450"/>
            <a:ext cx="1457325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财务确认</a:t>
            </a: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134350" y="2838450"/>
            <a:ext cx="17240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系统操作</a:t>
            </a: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134350" y="3114675"/>
            <a:ext cx="1724025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9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审核付款
确认入账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134350" y="4019550"/>
            <a:ext cx="17240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资料 / 结果</a:t>
            </a: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134350" y="4295775"/>
            <a:ext cx="1724025" cy="704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9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确认状态
收据</a:t>
            </a: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10067925" y="1676400"/>
            <a:ext cx="1724025" cy="933450"/>
          </a:xfrm>
          <a:prstGeom prst="roundRect">
            <a:avLst>
              <a:gd name="adj" fmla="val 8163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0201275" y="1790700"/>
            <a:ext cx="3619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0201275" y="2076450"/>
            <a:ext cx="1457325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交房资料</a:t>
            </a: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0067925" y="2838450"/>
            <a:ext cx="17240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系统操作</a:t>
            </a: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0067925" y="3114675"/>
            <a:ext cx="1724025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9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维护交房事项
上传现场资料</a:t>
            </a: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0067925" y="4019550"/>
            <a:ext cx="17240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资料 / 结果</a:t>
            </a: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0067925" y="4295775"/>
            <a:ext cx="1724025" cy="704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9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交房清单
照片 / 交房资料</a:t>
            </a: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400050" y="5581650"/>
            <a:ext cx="11391900" cy="590550"/>
          </a:xfrm>
          <a:prstGeom prst="roundRect">
            <a:avLst>
              <a:gd name="adj" fmla="val 12903"/>
            </a:avLst>
          </a:prstGeom>
          <a:solidFill>
            <a:srgbClr val="FFF3D6"/>
          </a:solidFill>
          <a:ln w="0">
            <a:noFill/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590550" y="5753100"/>
            <a:ext cx="110109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D68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重点核验：合同与付款计划的先后关系、分期生成规则、财务确认权限、交房资料是否影响流程完成。</a:t>
            </a: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3" name="矩形 52"/>
          <p:cNvSpPr>
            <a:spLocks noGrp="1"/>
          </p:cNvSpPr>
          <p:nvPr/>
        </p:nvSpPr>
        <p:spPr>
          <a:xfrm>
            <a:off x="400050" y="257175"/>
            <a:ext cx="2857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需求确认会议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00050" y="542925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现状与需求差异｜会议逐项确认</a:t>
            </a:r>
          </a:p>
        </p:txBody>
      </p:sp>
      <p:cxnSp>
        <p:nvCxnSpPr>
          <p:cNvPr id="55" name="直接箭头连接符 54"/>
          <p:cNvCxnSpPr/>
          <p:nvPr/>
        </p:nvCxnSpPr>
        <p:spPr>
          <a:xfrm>
            <a:off x="400050" y="1257300"/>
            <a:ext cx="11391900" cy="95"/>
          </a:xfrm>
          <a:prstGeom prst="straightConnector1">
            <a:avLst/>
          </a:prstGeom>
          <a:ln w="9525">
            <a:solidFill>
              <a:srgbClr val="D5DEE5"/>
            </a:solidFill>
            <a:prstDash val="solid"/>
          </a:ln>
        </p:spPr>
      </p:cxnSp>
      <p:sp>
        <p:nvSpPr>
          <p:cNvPr id="4" name="矩形 3"/>
          <p:cNvSpPr>
            <a:spLocks noGrp="1"/>
          </p:cNvSpPr>
          <p:nvPr/>
        </p:nvSpPr>
        <p:spPr>
          <a:xfrm>
            <a:off x="400050" y="1600200"/>
            <a:ext cx="1752600" cy="495300"/>
          </a:xfrm>
          <a:prstGeom prst="rect">
            <a:avLst/>
          </a:prstGeom>
          <a:solidFill>
            <a:srgbClr val="007F8B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1724025"/>
            <a:ext cx="15240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议题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152650" y="1600200"/>
            <a:ext cx="3143250" cy="495300"/>
          </a:xfrm>
          <a:prstGeom prst="rect">
            <a:avLst/>
          </a:prstGeom>
          <a:solidFill>
            <a:srgbClr val="0B1F33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266950" y="1724025"/>
            <a:ext cx="29146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当前系统（会上核验）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295900" y="1600200"/>
            <a:ext cx="3352800" cy="495300"/>
          </a:xfrm>
          <a:prstGeom prst="rect">
            <a:avLst/>
          </a:prstGeom>
          <a:solidFill>
            <a:srgbClr val="0B1F33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410200" y="1724025"/>
            <a:ext cx="31242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客户期望 / 已提出方向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648700" y="1600200"/>
            <a:ext cx="3143250" cy="495300"/>
          </a:xfrm>
          <a:prstGeom prst="rect">
            <a:avLst/>
          </a:prstGeom>
          <a:solidFill>
            <a:srgbClr val="0B1F33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763000" y="1724025"/>
            <a:ext cx="29146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本次会议需要输出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00050" y="2095500"/>
            <a:ext cx="1752600" cy="7905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14350" y="2209800"/>
            <a:ext cx="15240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提前交租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152650" y="2095500"/>
            <a:ext cx="3143250" cy="7905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266950" y="2209800"/>
            <a:ext cx="291465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4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按既有租金账单收款；提前交租分配规则需核验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295900" y="2095500"/>
            <a:ext cx="3352800" cy="7905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410200" y="2209800"/>
            <a:ext cx="31242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4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输入金额后自动换算整月 + 最后不足月，并生成对应租金账单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648700" y="2095500"/>
            <a:ext cx="3143250" cy="7905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763000" y="2209800"/>
            <a:ext cx="291465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4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分配顺序、提示方式、零头规则、避免未来重复账单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2886075"/>
            <a:ext cx="1752600" cy="790575"/>
          </a:xfrm>
          <a:prstGeom prst="rect">
            <a:avLst/>
          </a:prstGeom>
          <a:solidFill>
            <a:srgbClr val="F8FAFB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14350" y="3000375"/>
            <a:ext cx="15240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成交 / 服务费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152650" y="2886075"/>
            <a:ext cx="3143250" cy="790575"/>
          </a:xfrm>
          <a:prstGeom prst="rect">
            <a:avLst/>
          </a:prstGeom>
          <a:solidFill>
            <a:srgbClr val="F8FAFB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2266950" y="3000375"/>
            <a:ext cx="291465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4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已有服务管理入口；出账触发与重复规则需核验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295900" y="2886075"/>
            <a:ext cx="3352800" cy="790575"/>
          </a:xfrm>
          <a:prstGeom prst="rect">
            <a:avLst/>
          </a:prstGeom>
          <a:solidFill>
            <a:srgbClr val="F8FAFB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410200" y="3000375"/>
            <a:ext cx="31242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4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支持只收一次或指定多个月份重复收取，并自动生成账单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648700" y="2886075"/>
            <a:ext cx="3143250" cy="790575"/>
          </a:xfrm>
          <a:prstGeom prst="rect">
            <a:avLst/>
          </a:prstGeom>
          <a:solidFill>
            <a:srgbClr val="F8FAFB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763000" y="3000375"/>
            <a:ext cx="291465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4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收费方式、选择月份、出账时点、改动后的补差/冲销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00050" y="3676650"/>
            <a:ext cx="1752600" cy="7905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14350" y="3790950"/>
            <a:ext cx="15240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委托启用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152650" y="3676650"/>
            <a:ext cx="3143250" cy="7905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2266950" y="3790950"/>
            <a:ext cx="291465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4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正常路径为草稿→提交→审核→启用；异常状态可能直接拒绝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295900" y="3676650"/>
            <a:ext cx="3352800" cy="7905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5410200" y="3790950"/>
            <a:ext cx="31242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4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不是待审核时，提示是否将草稿直接转为执行中委托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648700" y="3676650"/>
            <a:ext cx="3143250" cy="7905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763000" y="3790950"/>
            <a:ext cx="291465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4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允许转换的状态、二次确认、操作权限、日志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00050" y="4467225"/>
            <a:ext cx="1752600" cy="790575"/>
          </a:xfrm>
          <a:prstGeom prst="rect">
            <a:avLst/>
          </a:prstGeom>
          <a:solidFill>
            <a:srgbClr val="F8FAFB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514350" y="4581525"/>
            <a:ext cx="15240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续租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2152650" y="4467225"/>
            <a:ext cx="3143250" cy="790575"/>
          </a:xfrm>
          <a:prstGeom prst="rect">
            <a:avLst/>
          </a:prstGeom>
          <a:solidFill>
            <a:srgbClr val="F8FAFB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2266950" y="4581525"/>
            <a:ext cx="291465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4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以原房产和租客新建租约；入口和账单需验收</a:t>
            </a: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295900" y="4467225"/>
            <a:ext cx="3352800" cy="790575"/>
          </a:xfrm>
          <a:prstGeom prst="rect">
            <a:avLst/>
          </a:prstGeom>
          <a:solidFill>
            <a:srgbClr val="F8FAFB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5410200" y="4581525"/>
            <a:ext cx="31242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4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新租约开始日＝原租约结束日 + 1 天；原租约不修改</a:t>
            </a: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648700" y="4467225"/>
            <a:ext cx="3143250" cy="790575"/>
          </a:xfrm>
          <a:prstGeom prst="rect">
            <a:avLst/>
          </a:prstGeom>
          <a:solidFill>
            <a:srgbClr val="F8FAFB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763000" y="4581525"/>
            <a:ext cx="291465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4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可修改字段、合同生成、账单生成、与旧租约的关联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400050" y="5257800"/>
            <a:ext cx="1752600" cy="7905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514350" y="5372100"/>
            <a:ext cx="15240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日常运营</a:t>
            </a: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2152650" y="5257800"/>
            <a:ext cx="3143250" cy="7905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2266950" y="5372100"/>
            <a:ext cx="291465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4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功能已对接既有接口，但仍需按场景集中验收</a:t>
            </a: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5295900" y="5257800"/>
            <a:ext cx="3352800" cy="7905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5410200" y="5372100"/>
            <a:ext cx="31242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4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核心操作在运营中心可完成，错误提示清楚、状态同步一致</a:t>
            </a: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648700" y="5257800"/>
            <a:ext cx="3143250" cy="7905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8763000" y="5372100"/>
            <a:ext cx="291465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4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场景清单、接口口径、错误处理、验收负责人和优先级</a:t>
            </a: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400050" y="257175"/>
            <a:ext cx="2857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需求确认会议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00050" y="542925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流程何时算完成？｜附件与系统状态的关系</a:t>
            </a: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400050" y="1257300"/>
            <a:ext cx="11391900" cy="95"/>
          </a:xfrm>
          <a:prstGeom prst="straightConnector1">
            <a:avLst/>
          </a:prstGeom>
          <a:ln w="9525">
            <a:solidFill>
              <a:srgbClr val="D5DEE5"/>
            </a:solidFill>
            <a:prstDash val="solid"/>
          </a:ln>
        </p:spPr>
      </p:cxnSp>
      <p:sp>
        <p:nvSpPr>
          <p:cNvPr id="4" name="矩形 3"/>
          <p:cNvSpPr>
            <a:spLocks noGrp="1"/>
          </p:cNvSpPr>
          <p:nvPr/>
        </p:nvSpPr>
        <p:spPr>
          <a:xfrm>
            <a:off x="400050" y="1457325"/>
            <a:ext cx="110109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这是开发方向的核心选择，会影响页面按钮、权限、提醒、报表和验收。</a:t>
            </a: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400050" y="2038350"/>
            <a:ext cx="3238500" cy="3219450"/>
          </a:xfrm>
          <a:prstGeom prst="roundRect">
            <a:avLst>
              <a:gd name="adj" fmla="val 2367"/>
            </a:avLst>
          </a:prstGeom>
          <a:solidFill>
            <a:srgbClr val="F2F5F7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2238375"/>
            <a:ext cx="5334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2686050"/>
            <a:ext cx="28194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A｜系统状态驱动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3429000"/>
            <a:ext cx="2819400" cy="1562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65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完成按钮决定阶段结束
附件仅作补充资料
优点：操作快、规则简单
风险：资料可能事后缺失</a:t>
            </a: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286250" y="2038350"/>
            <a:ext cx="3238500" cy="3219450"/>
          </a:xfrm>
          <a:prstGeom prst="roundRect">
            <a:avLst>
              <a:gd name="adj" fmla="val 2367"/>
            </a:avLst>
          </a:prstGeom>
          <a:solidFill>
            <a:srgbClr val="F2F5F7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495800" y="2238375"/>
            <a:ext cx="5334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495800" y="2686050"/>
            <a:ext cx="28194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B｜附件作为硬门槛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495800" y="3429000"/>
            <a:ext cx="2819400" cy="1562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65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指定附件齐全才能完成
缺文件时禁止进入下一阶段
优点：资料完整
风险：业务容易卡住</a:t>
            </a: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172450" y="2038350"/>
            <a:ext cx="3238500" cy="3219450"/>
          </a:xfrm>
          <a:prstGeom prst="roundRect">
            <a:avLst>
              <a:gd name="adj" fmla="val 2367"/>
            </a:avLst>
          </a:prstGeom>
          <a:solidFill>
            <a:srgbClr val="E5F5F6"/>
          </a:solidFill>
          <a:ln w="19050">
            <a:solidFill>
              <a:srgbClr val="007F8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382000" y="2238375"/>
            <a:ext cx="5334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82000" y="2686050"/>
            <a:ext cx="28194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C｜混合制（建议）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82000" y="3429000"/>
            <a:ext cx="2819400" cy="1562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65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合同、付款等关键节点设必需资料
一般运营阶段由系统状态推进
兼顾业务效率和资料完整性
每类业务可单独配置</a:t>
            </a: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00050" y="5524500"/>
            <a:ext cx="11010900" cy="552450"/>
          </a:xfrm>
          <a:prstGeom prst="roundRect">
            <a:avLst>
              <a:gd name="adj" fmla="val 13793"/>
            </a:avLst>
          </a:prstGeom>
          <a:solidFill>
            <a:srgbClr val="FFF3D6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90550" y="5686425"/>
            <a:ext cx="1062990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D68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会上必须确认：哪些阶段需要哪些必需附件、谁可豁免、补传后是否影响已完成状态。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矩形 28"/>
          <p:cNvSpPr>
            <a:spLocks noGrp="1"/>
          </p:cNvSpPr>
          <p:nvPr/>
        </p:nvSpPr>
        <p:spPr>
          <a:xfrm>
            <a:off x="400050" y="257175"/>
            <a:ext cx="2857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需求确认会议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00050" y="542925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除附件外，还需要一次确认的 8 项开发设定</a:t>
            </a: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400050" y="1257300"/>
            <a:ext cx="11391900" cy="95"/>
          </a:xfrm>
          <a:prstGeom prst="straightConnector1">
            <a:avLst/>
          </a:prstGeom>
          <a:ln w="9525">
            <a:solidFill>
              <a:srgbClr val="D5DEE5"/>
            </a:solidFill>
            <a:prstDash val="solid"/>
          </a:ln>
        </p:spPr>
      </p:cxnSp>
      <p:sp>
        <p:nvSpPr>
          <p:cNvPr id="4" name="矩形 3"/>
          <p:cNvSpPr>
            <a:spLocks noGrp="1"/>
          </p:cNvSpPr>
          <p:nvPr/>
        </p:nvSpPr>
        <p:spPr>
          <a:xfrm>
            <a:off x="400050" y="1790700"/>
            <a:ext cx="25717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 状态机</a:t>
            </a:r>
          </a:p>
        </p:txBody>
      </p:sp>
      <p:cxnSp>
        <p:nvCxnSpPr>
          <p:cNvPr id="33" name="直接箭头连接符 32"/>
          <p:cNvCxnSpPr/>
          <p:nvPr/>
        </p:nvCxnSpPr>
        <p:spPr>
          <a:xfrm>
            <a:off x="400050" y="2286000"/>
            <a:ext cx="2571750" cy="95"/>
          </a:xfrm>
          <a:prstGeom prst="straightConnector1">
            <a:avLst/>
          </a:prstGeom>
          <a:ln w="28575">
            <a:solidFill>
              <a:srgbClr val="007F8B"/>
            </a:solidFill>
            <a:prstDash val="solid"/>
          </a:ln>
        </p:spPr>
      </p:cxnSp>
      <p:sp>
        <p:nvSpPr>
          <p:cNvPr id="6" name="矩形 5"/>
          <p:cNvSpPr>
            <a:spLocks noGrp="1"/>
          </p:cNvSpPr>
          <p:nvPr/>
        </p:nvSpPr>
        <p:spPr>
          <a:xfrm>
            <a:off x="400050" y="2514600"/>
            <a:ext cx="2571750" cy="952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15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每个阶段允许从什么状态到什么状态？能否撤回、跳过、重开？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343275" y="1790700"/>
            <a:ext cx="25717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 角色权限</a:t>
            </a:r>
          </a:p>
        </p:txBody>
      </p:sp>
      <p:cxnSp>
        <p:nvCxnSpPr>
          <p:cNvPr id="36" name="直接箭头连接符 35"/>
          <p:cNvCxnSpPr/>
          <p:nvPr/>
        </p:nvCxnSpPr>
        <p:spPr>
          <a:xfrm>
            <a:off x="3343275" y="2286000"/>
            <a:ext cx="2571750" cy="95"/>
          </a:xfrm>
          <a:prstGeom prst="straightConnector1">
            <a:avLst/>
          </a:prstGeom>
          <a:ln w="28575">
            <a:solidFill>
              <a:srgbClr val="D5DEE5"/>
            </a:solidFill>
            <a:prstDash val="solid"/>
          </a:ln>
        </p:spPr>
      </p:cxnSp>
      <p:sp>
        <p:nvSpPr>
          <p:cNvPr id="9" name="矩形 8"/>
          <p:cNvSpPr>
            <a:spLocks noGrp="1"/>
          </p:cNvSpPr>
          <p:nvPr/>
        </p:nvSpPr>
        <p:spPr>
          <a:xfrm>
            <a:off x="3343275" y="2514600"/>
            <a:ext cx="2571750" cy="952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15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谁能新增、审核、财务确认、修改已完成数据和下载资料？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86500" y="1790700"/>
            <a:ext cx="25717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 附件规则</a:t>
            </a: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6286500" y="2286000"/>
            <a:ext cx="2571750" cy="95"/>
          </a:xfrm>
          <a:prstGeom prst="straightConnector1">
            <a:avLst/>
          </a:prstGeom>
          <a:ln w="28575">
            <a:solidFill>
              <a:srgbClr val="007F8B"/>
            </a:solidFill>
            <a:prstDash val="solid"/>
          </a:ln>
        </p:spPr>
      </p:cxnSp>
      <p:sp>
        <p:nvSpPr>
          <p:cNvPr id="12" name="矩形 11"/>
          <p:cNvSpPr>
            <a:spLocks noGrp="1"/>
          </p:cNvSpPr>
          <p:nvPr/>
        </p:nvSpPr>
        <p:spPr>
          <a:xfrm>
            <a:off x="6286500" y="2514600"/>
            <a:ext cx="2571750" cy="952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15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必需/可选、格式大小、版本、替换、删除和豁免如何控制？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229725" y="1790700"/>
            <a:ext cx="25717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04 账单生成</a:t>
            </a:r>
          </a:p>
        </p:txBody>
      </p:sp>
      <p:cxnSp>
        <p:nvCxnSpPr>
          <p:cNvPr id="42" name="直接箭头连接符 41"/>
          <p:cNvCxnSpPr/>
          <p:nvPr/>
        </p:nvCxnSpPr>
        <p:spPr>
          <a:xfrm>
            <a:off x="9229725" y="2286000"/>
            <a:ext cx="2571750" cy="95"/>
          </a:xfrm>
          <a:prstGeom prst="straightConnector1">
            <a:avLst/>
          </a:prstGeom>
          <a:ln w="28575">
            <a:solidFill>
              <a:srgbClr val="D5DEE5"/>
            </a:solidFill>
            <a:prstDash val="solid"/>
          </a:ln>
        </p:spPr>
      </p:cxnSp>
      <p:sp>
        <p:nvSpPr>
          <p:cNvPr id="15" name="矩形 14"/>
          <p:cNvSpPr>
            <a:spLocks noGrp="1"/>
          </p:cNvSpPr>
          <p:nvPr/>
        </p:nvSpPr>
        <p:spPr>
          <a:xfrm>
            <a:off x="9229725" y="2514600"/>
            <a:ext cx="2571750" cy="952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15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何时生成、如何避免重复、修改业务数据后如何补差或冲销？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00050" y="3829050"/>
            <a:ext cx="25717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05 日期金额</a:t>
            </a:r>
          </a:p>
        </p:txBody>
      </p:sp>
      <p:cxnSp>
        <p:nvCxnSpPr>
          <p:cNvPr id="45" name="直接箭头连接符 44"/>
          <p:cNvCxnSpPr/>
          <p:nvPr/>
        </p:nvCxnSpPr>
        <p:spPr>
          <a:xfrm>
            <a:off x="400050" y="4324350"/>
            <a:ext cx="2571750" cy="95"/>
          </a:xfrm>
          <a:prstGeom prst="straightConnector1">
            <a:avLst/>
          </a:prstGeom>
          <a:ln w="28575">
            <a:solidFill>
              <a:srgbClr val="007F8B"/>
            </a:solidFill>
            <a:prstDash val="solid"/>
          </a:ln>
        </p:spPr>
      </p:cxnSp>
      <p:sp>
        <p:nvSpPr>
          <p:cNvPr id="18" name="矩形 17"/>
          <p:cNvSpPr>
            <a:spLocks noGrp="1"/>
          </p:cNvSpPr>
          <p:nvPr/>
        </p:nvSpPr>
        <p:spPr>
          <a:xfrm>
            <a:off x="400050" y="4552950"/>
            <a:ext cx="2571750" cy="952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15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跨月、最后不足月、舍入、时区、续租首日等统一采用什么规则？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343275" y="3829050"/>
            <a:ext cx="25717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06 修改与审计</a:t>
            </a:r>
          </a:p>
        </p:txBody>
      </p:sp>
      <p:cxnSp>
        <p:nvCxnSpPr>
          <p:cNvPr id="48" name="直接箭头连接符 47"/>
          <p:cNvCxnSpPr/>
          <p:nvPr/>
        </p:nvCxnSpPr>
        <p:spPr>
          <a:xfrm>
            <a:off x="3343275" y="4324350"/>
            <a:ext cx="2571750" cy="95"/>
          </a:xfrm>
          <a:prstGeom prst="straightConnector1">
            <a:avLst/>
          </a:prstGeom>
          <a:ln w="28575">
            <a:solidFill>
              <a:srgbClr val="D5DEE5"/>
            </a:solidFill>
            <a:prstDash val="solid"/>
          </a:ln>
        </p:spPr>
      </p:cxnSp>
      <p:sp>
        <p:nvSpPr>
          <p:cNvPr id="21" name="矩形 20"/>
          <p:cNvSpPr>
            <a:spLocks noGrp="1"/>
          </p:cNvSpPr>
          <p:nvPr/>
        </p:nvSpPr>
        <p:spPr>
          <a:xfrm>
            <a:off x="3343275" y="4552950"/>
            <a:ext cx="2571750" cy="952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15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已审核/已入账数据是否可改？需要原因、审批和操作日志吗？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86500" y="3829050"/>
            <a:ext cx="25717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07 提醒通知</a:t>
            </a:r>
          </a:p>
        </p:txBody>
      </p:sp>
      <p:cxnSp>
        <p:nvCxnSpPr>
          <p:cNvPr id="51" name="直接箭头连接符 50"/>
          <p:cNvCxnSpPr/>
          <p:nvPr/>
        </p:nvCxnSpPr>
        <p:spPr>
          <a:xfrm>
            <a:off x="6286500" y="4324350"/>
            <a:ext cx="2571750" cy="95"/>
          </a:xfrm>
          <a:prstGeom prst="straightConnector1">
            <a:avLst/>
          </a:prstGeom>
          <a:ln w="28575">
            <a:solidFill>
              <a:srgbClr val="007F8B"/>
            </a:solidFill>
            <a:prstDash val="solid"/>
          </a:ln>
        </p:spPr>
      </p:cxnSp>
      <p:sp>
        <p:nvSpPr>
          <p:cNvPr id="24" name="矩形 23"/>
          <p:cNvSpPr>
            <a:spLocks noGrp="1"/>
          </p:cNvSpPr>
          <p:nvPr/>
        </p:nvSpPr>
        <p:spPr>
          <a:xfrm>
            <a:off x="6286500" y="4552950"/>
            <a:ext cx="2571750" cy="952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15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到期、欠款、待审核、资料缺失，通过什么渠道提醒？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229725" y="3829050"/>
            <a:ext cx="25717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08 验收数据</a:t>
            </a:r>
          </a:p>
        </p:txBody>
      </p:sp>
      <p:cxnSp>
        <p:nvCxnSpPr>
          <p:cNvPr id="54" name="直接箭头连接符 53"/>
          <p:cNvCxnSpPr/>
          <p:nvPr/>
        </p:nvCxnSpPr>
        <p:spPr>
          <a:xfrm>
            <a:off x="9229725" y="4324350"/>
            <a:ext cx="2571750" cy="95"/>
          </a:xfrm>
          <a:prstGeom prst="straightConnector1">
            <a:avLst/>
          </a:prstGeom>
          <a:ln w="28575">
            <a:solidFill>
              <a:srgbClr val="D5DEE5"/>
            </a:solidFill>
            <a:prstDash val="solid"/>
          </a:ln>
        </p:spPr>
      </p:cxnSp>
      <p:sp>
        <p:nvSpPr>
          <p:cNvPr id="27" name="矩形 26"/>
          <p:cNvSpPr>
            <a:spLocks noGrp="1"/>
          </p:cNvSpPr>
          <p:nvPr/>
        </p:nvSpPr>
        <p:spPr>
          <a:xfrm>
            <a:off x="9229725" y="4552950"/>
            <a:ext cx="2571750" cy="952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15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用哪些测试账号、房产、合同、账单和边界场景完成验收？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400050" y="257175"/>
            <a:ext cx="2857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需求确认会议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00050" y="542925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账单规则专项｜提前交租与服务收费</a:t>
            </a: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400050" y="1257300"/>
            <a:ext cx="11391900" cy="95"/>
          </a:xfrm>
          <a:prstGeom prst="straightConnector1">
            <a:avLst/>
          </a:prstGeom>
          <a:ln w="9525">
            <a:solidFill>
              <a:srgbClr val="D5DEE5"/>
            </a:solidFill>
            <a:prstDash val="solid"/>
          </a:ln>
        </p:spPr>
      </p:cxnSp>
      <p:sp>
        <p:nvSpPr>
          <p:cNvPr id="4" name="圆角矩形 3"/>
          <p:cNvSpPr>
            <a:spLocks noGrp="1"/>
          </p:cNvSpPr>
          <p:nvPr/>
        </p:nvSpPr>
        <p:spPr>
          <a:xfrm>
            <a:off x="400050" y="1619250"/>
            <a:ext cx="5391150" cy="3333750"/>
          </a:xfrm>
          <a:prstGeom prst="roundRect">
            <a:avLst>
              <a:gd name="adj" fmla="val 2286"/>
            </a:avLst>
          </a:prstGeom>
          <a:solidFill>
            <a:srgbClr val="E5F5F6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1847850"/>
            <a:ext cx="4895850" cy="419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提前交租＝只处理租金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2495550"/>
            <a:ext cx="4895850" cy="1952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  输入实收金额
2  按租期和月租自动分配
3  显示：覆盖几个月 + 最后一个月金额
4  自动生成/匹配租金账单
5  后续生成任务跳过已覆盖月份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00750" y="1619250"/>
            <a:ext cx="5410200" cy="3333750"/>
          </a:xfrm>
          <a:prstGeom prst="roundRect">
            <a:avLst>
              <a:gd name="adj" fmla="val 2286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248400" y="1847850"/>
            <a:ext cx="4914900" cy="419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服务收费＝按服务规则出账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48400" y="2495550"/>
            <a:ext cx="4914900" cy="1952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  每项服务设置金额
2  选择只收一次或指定月份重复收取
3  一次性收费也明确归属月份
4  按选择生成对应服务账单
5  修改规则时定义补差、冲销和历史保留</a:t>
            </a: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00050" y="5257800"/>
            <a:ext cx="11010900" cy="819150"/>
          </a:xfrm>
          <a:prstGeom prst="roundRect">
            <a:avLst>
              <a:gd name="adj" fmla="val 9302"/>
            </a:avLst>
          </a:prstGeom>
          <a:solidFill>
            <a:srgbClr val="FFF3D6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5486400"/>
            <a:ext cx="1057275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D68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共同底线：同一租约 + 费用类型 + 账期必须有唯一识别，重复点击、定时任务和续租都不能重复出账。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400050" y="257175"/>
            <a:ext cx="2857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需求确认会议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00050" y="542925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职责边界与验收｜谁负责什么</a:t>
            </a: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400050" y="1257300"/>
            <a:ext cx="11391900" cy="95"/>
          </a:xfrm>
          <a:prstGeom prst="straightConnector1">
            <a:avLst/>
          </a:prstGeom>
          <a:ln w="9525">
            <a:solidFill>
              <a:srgbClr val="D5DEE5"/>
            </a:solidFill>
            <a:prstDash val="solid"/>
          </a:ln>
        </p:spPr>
      </p:cxnSp>
      <p:sp>
        <p:nvSpPr>
          <p:cNvPr id="4" name="圆角矩形 3"/>
          <p:cNvSpPr>
            <a:spLocks noGrp="1"/>
          </p:cNvSpPr>
          <p:nvPr/>
        </p:nvSpPr>
        <p:spPr>
          <a:xfrm>
            <a:off x="400050" y="1714500"/>
            <a:ext cx="3238500" cy="3429000"/>
          </a:xfrm>
          <a:prstGeom prst="roundRect">
            <a:avLst>
              <a:gd name="adj" fmla="val 2353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943100"/>
            <a:ext cx="57150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2438400"/>
            <a:ext cx="27813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系统负责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3143250"/>
            <a:ext cx="2781300" cy="1676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状态与权限控制
账单生成与去重
资料上传与关联
异常提示与操作日志
可验证的查询与报表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286250" y="1714500"/>
            <a:ext cx="3238500" cy="3429000"/>
          </a:xfrm>
          <a:prstGeom prst="roundRect">
            <a:avLst>
              <a:gd name="adj" fmla="val 2353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514850" y="1943100"/>
            <a:ext cx="57150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514850" y="2438400"/>
            <a:ext cx="27813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业务人员负责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514850" y="3143250"/>
            <a:ext cx="2781300" cy="1676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录入真实完整信息
选择正确业务规则
上传约定资料
按权限完成审核确认
发现异常及时提交</a:t>
            </a: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172450" y="1714500"/>
            <a:ext cx="3238500" cy="3429000"/>
          </a:xfrm>
          <a:prstGeom prst="roundRect">
            <a:avLst>
              <a:gd name="adj" fmla="val 2353"/>
            </a:avLst>
          </a:prstGeom>
          <a:solidFill>
            <a:srgbClr val="E5F5F6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401050" y="1943100"/>
            <a:ext cx="57150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401050" y="2438400"/>
            <a:ext cx="27813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客户验收负责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401050" y="3143250"/>
            <a:ext cx="2781300" cy="1676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提供实际业务场景
确认规则与优先级
在验收环境走完整流程
确认数据与文件结果
指定最终签收负责人</a:t>
            </a: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00050" y="5429250"/>
            <a:ext cx="11010900" cy="647700"/>
          </a:xfrm>
          <a:prstGeom prst="roundRect">
            <a:avLst>
              <a:gd name="adj" fmla="val 11765"/>
            </a:avLst>
          </a:prstGeom>
          <a:solidFill>
            <a:srgbClr val="E5F5F6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5619750"/>
            <a:ext cx="105918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建议验收口径：一个真实案例从建立资料到财务确认/交房或续租完整走通，结果、状态、账单和已约定附件都一致。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400050" y="257175"/>
            <a:ext cx="2857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需求确认会议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00050" y="542925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服务器、发布与数据安全｜会议确认清单</a:t>
            </a: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400050" y="1257300"/>
            <a:ext cx="11391900" cy="95"/>
          </a:xfrm>
          <a:prstGeom prst="straightConnector1">
            <a:avLst/>
          </a:prstGeom>
          <a:ln w="9525">
            <a:solidFill>
              <a:srgbClr val="D5DEE5"/>
            </a:solidFill>
            <a:prstDash val="solid"/>
          </a:ln>
        </p:spPr>
      </p:cxnSp>
      <p:sp>
        <p:nvSpPr>
          <p:cNvPr id="4" name="矩形 3"/>
          <p:cNvSpPr>
            <a:spLocks noGrp="1"/>
          </p:cNvSpPr>
          <p:nvPr/>
        </p:nvSpPr>
        <p:spPr>
          <a:xfrm>
            <a:off x="400050" y="1676400"/>
            <a:ext cx="5905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2190750"/>
            <a:ext cx="32385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部署归属</a:t>
            </a: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400050" y="2857500"/>
            <a:ext cx="3238500" cy="95"/>
          </a:xfrm>
          <a:prstGeom prst="straightConnector1">
            <a:avLst/>
          </a:prstGeom>
          <a:ln w="28575">
            <a:solidFill>
              <a:srgbClr val="007F8B"/>
            </a:solidFill>
            <a:prstDash val="solid"/>
          </a:ln>
        </p:spPr>
      </p:cxnSp>
      <p:sp>
        <p:nvSpPr>
          <p:cNvPr id="7" name="矩形 6"/>
          <p:cNvSpPr>
            <a:spLocks noGrp="1"/>
          </p:cNvSpPr>
          <p:nvPr/>
        </p:nvSpPr>
        <p:spPr>
          <a:xfrm>
            <a:off x="400050" y="3162300"/>
            <a:ext cx="3238500" cy="2038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客户服务器还是供应方托管？
生产、测试是否分环境？
域名、SSL、网络白名单谁提供？
管理员与数据库权限由谁保管？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286250" y="1676400"/>
            <a:ext cx="5905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286250" y="2190750"/>
            <a:ext cx="32385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数据与备份</a:t>
            </a: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4286250" y="2857500"/>
            <a:ext cx="3238500" cy="95"/>
          </a:xfrm>
          <a:prstGeom prst="straightConnector1">
            <a:avLst/>
          </a:prstGeom>
          <a:ln w="28575">
            <a:solidFill>
              <a:srgbClr val="D5DEE5"/>
            </a:solidFill>
            <a:prstDash val="solid"/>
          </a:ln>
        </p:spPr>
      </p:cxnSp>
      <p:sp>
        <p:nvSpPr>
          <p:cNvPr id="11" name="矩形 10"/>
          <p:cNvSpPr>
            <a:spLocks noGrp="1"/>
          </p:cNvSpPr>
          <p:nvPr/>
        </p:nvSpPr>
        <p:spPr>
          <a:xfrm>
            <a:off x="4286250" y="3162300"/>
            <a:ext cx="3238500" cy="2038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数据库和附件存储在哪里？
备份频率与保留时长？
谁定期验证备份可恢复？
故障时允许丢失多久数据？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172450" y="1676400"/>
            <a:ext cx="5905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172450" y="2190750"/>
            <a:ext cx="32385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发布与运维</a:t>
            </a:r>
          </a:p>
        </p:txBody>
      </p:sp>
      <p:cxnSp>
        <p:nvCxnSpPr>
          <p:cNvPr id="32" name="直接箭头连接符 31"/>
          <p:cNvCxnSpPr/>
          <p:nvPr/>
        </p:nvCxnSpPr>
        <p:spPr>
          <a:xfrm>
            <a:off x="8172450" y="2857500"/>
            <a:ext cx="3238500" cy="95"/>
          </a:xfrm>
          <a:prstGeom prst="straightConnector1">
            <a:avLst/>
          </a:prstGeom>
          <a:ln w="28575">
            <a:solidFill>
              <a:srgbClr val="D5DEE5"/>
            </a:solidFill>
            <a:prstDash val="solid"/>
          </a:ln>
        </p:spPr>
      </p:cxnSp>
      <p:sp>
        <p:nvSpPr>
          <p:cNvPr id="15" name="矩形 14"/>
          <p:cNvSpPr>
            <a:spLocks noGrp="1"/>
          </p:cNvSpPr>
          <p:nvPr/>
        </p:nvSpPr>
        <p:spPr>
          <a:xfrm>
            <a:off x="8172450" y="3162300"/>
            <a:ext cx="3238500" cy="2038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发布窗口与停机通知？
日志、监控和告警由谁查看？
紧急修复如何审批？
版本回退和灾难恢复怎么执行？</a:t>
            </a: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00050" y="5543550"/>
            <a:ext cx="11010900" cy="552450"/>
          </a:xfrm>
          <a:prstGeom prst="roundRect">
            <a:avLst>
              <a:gd name="adj" fmla="val 13793"/>
            </a:avLst>
          </a:prstGeom>
          <a:solidFill>
            <a:srgbClr val="FFF3D6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5705475"/>
            <a:ext cx="105918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D68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最低输出：部署架构、账号权限表、备份恢复方案、发布流程、联系人与应急升级路径。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400050" y="257175"/>
            <a:ext cx="2857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需求确认会议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00050" y="542925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问题反馈闭环｜提交 → 定级 → 修复与发布</a:t>
            </a: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400050" y="1257300"/>
            <a:ext cx="11391900" cy="95"/>
          </a:xfrm>
          <a:prstGeom prst="straightConnector1">
            <a:avLst/>
          </a:prstGeom>
          <a:ln w="9525">
            <a:solidFill>
              <a:srgbClr val="D5DEE5"/>
            </a:solidFill>
            <a:prstDash val="solid"/>
          </a:ln>
        </p:spPr>
      </p:cxnSp>
      <p:cxnSp>
        <p:nvCxnSpPr>
          <p:cNvPr id="23" name="直接箭头连接符 22"/>
          <p:cNvCxnSpPr/>
          <p:nvPr/>
        </p:nvCxnSpPr>
        <p:spPr>
          <a:xfrm>
            <a:off x="704850" y="2876550"/>
            <a:ext cx="10572750" cy="95"/>
          </a:xfrm>
          <a:prstGeom prst="straightConnector1">
            <a:avLst/>
          </a:prstGeom>
          <a:ln w="19050">
            <a:solidFill>
              <a:srgbClr val="0B1F33"/>
            </a:solidFill>
            <a:prstDash val="solid"/>
          </a:ln>
        </p:spPr>
      </p:cxnSp>
      <p:sp>
        <p:nvSpPr>
          <p:cNvPr id="5" name="矩形 4"/>
          <p:cNvSpPr>
            <a:spLocks noGrp="1"/>
          </p:cNvSpPr>
          <p:nvPr/>
        </p:nvSpPr>
        <p:spPr>
          <a:xfrm>
            <a:off x="704850" y="2324100"/>
            <a:ext cx="171450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步骤 1</a:t>
            </a:r>
          </a:p>
        </p:txBody>
      </p:sp>
      <p:sp>
        <p:nvSpPr>
          <p:cNvPr id="6" name="椭圆 5"/>
          <p:cNvSpPr>
            <a:spLocks noGrp="1"/>
          </p:cNvSpPr>
          <p:nvPr/>
        </p:nvSpPr>
        <p:spPr>
          <a:xfrm>
            <a:off x="704850" y="2800350"/>
            <a:ext cx="171450" cy="171450"/>
          </a:xfrm>
          <a:prstGeom prst="ellipse">
            <a:avLst/>
          </a:prstGeom>
          <a:solidFill>
            <a:srgbClr val="007F8B"/>
          </a:solidFill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3333750"/>
            <a:ext cx="3143250" cy="419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统一提交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4000500"/>
            <a:ext cx="3143250" cy="1295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页面与操作步骤
截图/视频与发生时间
账号、房产或账单编号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343400" y="2324100"/>
            <a:ext cx="171450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步骤 2</a:t>
            </a: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4343400" y="2800350"/>
            <a:ext cx="171450" cy="171450"/>
          </a:xfrm>
          <a:prstGeom prst="ellipse">
            <a:avLst/>
          </a:prstGeom>
          <a:solidFill>
            <a:srgbClr val="007F8B"/>
          </a:solidFill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343400" y="3333750"/>
            <a:ext cx="3143250" cy="419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确认与定级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343400" y="4000500"/>
            <a:ext cx="3143250" cy="1295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能否复现、影响范围
P0 / P1 / P2 / P3
负责人和预计处理时间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981950" y="2324100"/>
            <a:ext cx="171450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步骤 3</a:t>
            </a: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7981950" y="2800350"/>
            <a:ext cx="171450" cy="171450"/>
          </a:xfrm>
          <a:prstGeom prst="ellipse">
            <a:avLst/>
          </a:prstGeom>
          <a:solidFill>
            <a:srgbClr val="007F8B"/>
          </a:solidFill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981950" y="3333750"/>
            <a:ext cx="3143250" cy="419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验证后闭环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981950" y="4000500"/>
            <a:ext cx="3143250" cy="1295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测试环境验证
客户确认结果
记录版本、发布时间和结论</a:t>
            </a: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00050" y="5581650"/>
            <a:ext cx="11010900" cy="514350"/>
          </a:xfrm>
          <a:prstGeom prst="roundRect">
            <a:avLst>
              <a:gd name="adj" fmla="val 14815"/>
            </a:avLst>
          </a:prstGeom>
          <a:solidFill>
            <a:srgbClr val="FFF3D6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90550" y="5724525"/>
            <a:ext cx="1062990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D68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待确认：唯一反馈入口、问题等级、响应时限、紧急联系人、客户验收和关闭条件。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矩形 38"/>
          <p:cNvSpPr>
            <a:spLocks noGrp="1"/>
          </p:cNvSpPr>
          <p:nvPr/>
        </p:nvSpPr>
        <p:spPr>
          <a:xfrm>
            <a:off x="400050" y="257175"/>
            <a:ext cx="2857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需求确认会议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00050" y="542925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会议结束前必须形成的决定</a:t>
            </a: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400050" y="1257300"/>
            <a:ext cx="11391900" cy="95"/>
          </a:xfrm>
          <a:prstGeom prst="straightConnector1">
            <a:avLst/>
          </a:prstGeom>
          <a:ln w="9525">
            <a:solidFill>
              <a:srgbClr val="D5DEE5"/>
            </a:solidFill>
            <a:prstDash val="solid"/>
          </a:ln>
        </p:spPr>
      </p:cxnSp>
      <p:sp>
        <p:nvSpPr>
          <p:cNvPr id="4" name="椭圆 3"/>
          <p:cNvSpPr>
            <a:spLocks noGrp="1"/>
          </p:cNvSpPr>
          <p:nvPr/>
        </p:nvSpPr>
        <p:spPr>
          <a:xfrm>
            <a:off x="400050" y="1657350"/>
            <a:ext cx="400050" cy="400050"/>
          </a:xfrm>
          <a:prstGeom prst="ellipse">
            <a:avLst/>
          </a:prstGeom>
          <a:solidFill>
            <a:srgbClr val="007F8B"/>
          </a:solidFill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1752600"/>
            <a:ext cx="4000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90600" y="1619250"/>
            <a:ext cx="4762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租房与买房现状流程已核对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2028825"/>
            <a:ext cx="4762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15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符合 / 部分符合 / 不符合</a:t>
            </a: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400050" y="2628900"/>
            <a:ext cx="400050" cy="400050"/>
          </a:xfrm>
          <a:prstGeom prst="ellipse">
            <a:avLst/>
          </a:prstGeom>
          <a:solidFill>
            <a:srgbClr val="007F8B"/>
          </a:solidFill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00050" y="2724150"/>
            <a:ext cx="4000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90600" y="2590800"/>
            <a:ext cx="4762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差异清单与优先级已确认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90600" y="3000375"/>
            <a:ext cx="4762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15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必须 / 应该 / 可延后</a:t>
            </a: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400050" y="3600450"/>
            <a:ext cx="400050" cy="400050"/>
          </a:xfrm>
          <a:prstGeom prst="ellipse">
            <a:avLst/>
          </a:prstGeom>
          <a:solidFill>
            <a:srgbClr val="0B1F33"/>
          </a:solidFill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00050" y="3695700"/>
            <a:ext cx="4000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90600" y="3562350"/>
            <a:ext cx="4762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流程完成与附件规则已确认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90600" y="3971925"/>
            <a:ext cx="4762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15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状态驱动 / 附件驱动 / 混合制</a:t>
            </a: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400050" y="4572000"/>
            <a:ext cx="400050" cy="400050"/>
          </a:xfrm>
          <a:prstGeom prst="ellipse">
            <a:avLst/>
          </a:prstGeom>
          <a:solidFill>
            <a:srgbClr val="0B1F33"/>
          </a:solidFill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00050" y="4667250"/>
            <a:ext cx="4000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90600" y="4533900"/>
            <a:ext cx="4762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角色权限与修改审计已确认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90600" y="4943475"/>
            <a:ext cx="4762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15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负责人 + 可操作范围</a:t>
            </a: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6191250" y="1657350"/>
            <a:ext cx="400050" cy="400050"/>
          </a:xfrm>
          <a:prstGeom prst="ellipse">
            <a:avLst/>
          </a:prstGeom>
          <a:solidFill>
            <a:srgbClr val="0B1F33"/>
          </a:solidFill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191250" y="1752600"/>
            <a:ext cx="4000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781800" y="1619250"/>
            <a:ext cx="4762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租金与服务费账单规则已确认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781800" y="2028825"/>
            <a:ext cx="4762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15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生成、分配、去重、补差/冲销</a:t>
            </a: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6191250" y="2628900"/>
            <a:ext cx="400050" cy="400050"/>
          </a:xfrm>
          <a:prstGeom prst="ellipse">
            <a:avLst/>
          </a:prstGeom>
          <a:solidFill>
            <a:srgbClr val="0B1F33"/>
          </a:solidFill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191250" y="2724150"/>
            <a:ext cx="4000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781800" y="2590800"/>
            <a:ext cx="4762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服务器和数据责任已确认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781800" y="3000375"/>
            <a:ext cx="4762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15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环境、账号、备份、恢复</a:t>
            </a: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6191250" y="3600450"/>
            <a:ext cx="400050" cy="400050"/>
          </a:xfrm>
          <a:prstGeom prst="ellipse">
            <a:avLst/>
          </a:prstGeom>
          <a:solidFill>
            <a:srgbClr val="0B1F33"/>
          </a:solidFill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191250" y="3695700"/>
            <a:ext cx="4000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07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781800" y="3562350"/>
            <a:ext cx="4762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发布与问题反馈机制已确认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781800" y="3971925"/>
            <a:ext cx="4762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15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渠道、分级、时限、联系人</a:t>
            </a: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6191250" y="4572000"/>
            <a:ext cx="400050" cy="400050"/>
          </a:xfrm>
          <a:prstGeom prst="ellipse">
            <a:avLst/>
          </a:prstGeom>
          <a:solidFill>
            <a:srgbClr val="0B1F33"/>
          </a:solidFill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191250" y="4667250"/>
            <a:ext cx="4000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08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781800" y="4533900"/>
            <a:ext cx="4762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验收案例与签收人已确认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781800" y="4943475"/>
            <a:ext cx="4762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15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测试数据、日期、最终负责人</a:t>
            </a: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400050" y="5734050"/>
            <a:ext cx="11010900" cy="400050"/>
          </a:xfrm>
          <a:prstGeom prst="roundRect">
            <a:avLst>
              <a:gd name="adj" fmla="val 19048"/>
            </a:avLst>
          </a:prstGeom>
          <a:solidFill>
            <a:srgbClr val="E5F5F6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590550" y="5829300"/>
            <a:ext cx="106299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007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记录格式：决定事项 + 负责人 + 完成日期 + 验收证据。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400050" y="400050"/>
            <a:ext cx="22860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3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会后输出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00050" y="1676400"/>
            <a:ext cx="10001250" cy="285750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l">
              <a:defRPr sz="57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把分歧变成
可执行约定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010150"/>
            <a:ext cx="4381500" cy="1143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流程差异清单
开发设定确认表
服务器与支持方案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3041</Words>
  <Application>WPS 演示</Application>
  <PresentationFormat>Converted Presentation</PresentationFormat>
  <Paragraphs>472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＾＿・</cp:lastModifiedBy>
  <cp:revision>1</cp:revision>
  <dcterms:created xsi:type="dcterms:W3CDTF">2026-08-04T07:44:56Z</dcterms:created>
  <dcterms:modified xsi:type="dcterms:W3CDTF">2026-08-04T07:44:56Z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4D81BFC8B5F948B186BF07BD820C9720_12</vt:lpwstr>
  </property>
</Properties>
</file>